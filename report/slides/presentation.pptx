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Good morning. My project is called gemm2d.
It's a matrix multiplication that runs across many machines at once.
Two things make it different. It works for any matrix shape and any number of machines. And it decides how to split the work by itself, at run time.
I'll show you the problem, then the design, then five results, and then what's still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Matrix multiply is the operation almost everything reduces to. Linear algebra, and most of deep learning.
On one machine it's about arithmetic. Across many machines it's about moving data. And how much data moves depends entirely on how you split the matrices up.
Now, the word generic in my title is the whole problem.
A textbook implementation makes three assumptions. And all three are wrong in practice.
First, it assumes square matrices. But real problems are lopsided. Take a Gram matrix, A-transpose times A. Ten thousand samples, a hundred features. The output is only a hundred by a hundred, but the inner dimension is ten thousand. Tiny result, enormous amount of work.
Second, it assumes the number of processes is a perfect square. Four, nine, sixteen. But the scheduler gives you whatever is free. Sometimes seven. And seven has no square grid.
Third, it assumes the sizes divide evenly. They don't. The usual fix is to pad with zeros, and that's worse than it looks. You waste work, but more importantly you hide bugs. Because zeros contribute nothing, so a wrong answer still looks plausible.
So the question is: can we drop all three, and not lose performance?
--- IF ASKED ---
Why not just pad? It costs flops, but the real reason is debuggability: padded regions contribute zero, so an indexing bug gives a plausible wrong answer instead of an obviously wrong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Let me be precise about what generic means. I split it into three.
G1 is shape. Any M, N, K. Done and tested.
G2 is the machine. Any number of processes, including primes. Any grid. Sizes that don't divide. Also done and tested.
G3 is the data type, the same code working for float and double. I didn't do that one. It's double only.
Then four goals. Correctness for any input. A local kernel fast enough that my measurements actually show the communication. A planner that chooses the layout from measurements instead of convention. And a way to check correctness even on problems too big to verify directly.
And things I explicitly did not do: sparse matrices, Strassen-style algorithms, GPUs, fault tolerance.
--- WATCH OUT ---
Alpha and beta mean two different things in this project. Here they are the scalars in C = alpha AB + beta C. On slide 7 they are latency and inverse bandwidth. Know which slide you are on.
--- IF ASKED ---
Why is the kernel work relevant to a parallel computing project? If the kernel is slow, compute dominates communication by a hundred times, so every timing would just measure the inner loop. A fast kernel is a precondition for communication to be visible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A quick tour of what already exists. Each of these justifies one of my decisions.
Cannon's algorithm, from 1969. It arranges the processes in a square and rotates the data step by step. Only neighbour-to-neighbour messages, very efficient. But it only works on a square grid with sizes that divide. Which is exactly what I refuse to assume. So it can't be my base.
SUMMA, from 1997. Instead of rotating, it broadcasts thin slices along rows and columns. The slice width is independent of the grid, and that's what makes it flexible. So that's my base engine.
ScaLAPACK deals its blocks out round-robin, like cards. That exists to balance the work in factorisations, where the work shrinks as you go. Matrix multiply has uniform work, so I don't need it. I use plain blocks and avoid the complicated indexing.
Then there's theory saying: if memory is tight, 2D is already optimal. But if you have spare memory, you can trade it for less communication. That's what 2.5D does. It splits the K dimension across layers.
And finally COSMA, from 2019. That's the state of the art. It finds a near-optimal layout for any shape and any machine.
So where is my contribution? COSMA is complicated. And meanwhile, most real code still hard-codes a square grid. So my question is: how much of that benefit do you get from something small enough that people would actually use it? A few dozen lines that try every possible grid and pick the cheapest.
It's a selector. I am not claiming it's optimal.
--- IF ASKED ---
Why not just use COSMA? For production you should. My question was what a minimal component recovers, because that is what gets adopted. A head-to-head against COSMA is first in my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Now the design. All four of my algorithms share one data layout.
Each process holds a descriptor: how big the whole matrix is, how big its own piece is, and where its piece starts.
When the sizes don't divide, I don't pad. I just give some processes one extra row. Process zero gets three hundred and thirty-four rows, the others get three hundred and thirty-three.
That sounds minor, but it's the most useful decision in the whole codebase. Every awkward case, a ragged last block, a one-by-P grid, more processes than rows, all of them come down to that single function. So I test that one function hard, and everything else follows.
Second thing: nothing is created on process zero and then distributed. Each process generates its own piece from a hash of the coordinates. So element i,j has the same value no matter how many processes you run. That removes a bottleneck, and it means I can compare results across configurations exactly.
And on the right, the four engines. Naive 1D and Cannon are baselines. Note that Cannon refuses to run on cases it can't handle, rather than padding, and that refusal is my evidence for choosing SUMMA. SUMMA is the main one. And 2.5D adds the third dimension.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This is the SUMMA loop.
The idea: walk along the K dimension in thin slices. At each step, whoever owns that slice of A broadcasts it along its row of processes. Whoever owns that slice of B broadcasts it down its column. Then everyone multiplies the two thin slices and adds the result into their block. Move to the next slice, repeat.
Now here's the one subtle thing that makes it generic.
A's K dimension is divided among the columns of the grid. B's K dimension is divided among the rows. Those are two different divisions, unless everything is square and divides evenly.
So a slice can cross a boundary in A, or in B, or both. And that's line five: I clip every step to the overlap of both owners' ranges. That's the whole trick. It's what lets any grid and any size work.
On the right, the 2.5D engine. Each layer takes a chunk of K, runs a complete SUMMA on it, and produces a partial result. Then one reduction adds the partial results together.
I chose this form because it reuses the SUMMA code unchanged, about forty extra lines. And the only extra memory is one copy of C per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This is the model the planner minimises. Three terms.
The first is latency. How many messages you send, times the cost of one message.
The second is bandwidth. How many bytes you send, divided by the transfer speed.
The third is computation. How many operations, divided by how fast you do them.
The three constants, alpha beta gamma, I measure on the actual machine before running. Latency and bandwidth with a ping-pong test. And the compute speed by running the real kernel, the same one the run will use. If you calibrate with a different kernel, you're optimising for a machine that doesn't exist.
Then the planner just tries everything. Every way of factoring the process count into a grid, every panel width. Throws away anything that doesn't fit in memory. Returns the cheapest. And that costs microseconds.
I also checked it against theory. If you ignore latency, the maths says the grid shape should match the output shape. And the planner reproduces that on its own, from the numbers.
One thing to notice for later: the panel width only appears in the latency term. So the model claims it's purely a latency knob. Hold on to that. It turns out to be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Two supporting pieces.
First the local kernel. I have three versions. A textbook triple loop. A cache-blocked one. And a packed one, which copies the data into contiguous aligned buffers and uses an eight-by-eight block that stays in the CPU registers for the whole inner loop.
Small detail I'm proud of: the buffers are padded with zeros, so the inner loop always computes a full block and only writes back the part that's real. That means no branches in the hot loop, and no risk of reading out of bounds.
And threads take whole rows, so no two threads ever write the same output. No locks, no false sharing.
Second, correctness. Three layers.
Layer one: compare against a sequential reference. Forty-three test cases. Prime process counts, ugly sizes like sixty-one by fifty-three by forty-seven, degenerate grids, more processes than rows, panel widths from one to four thousand.
Layer two: I compare norms, never exact equality. Floating point never gives exact equality.
Layer three, and this is the interesting one: Freivalds' test. Pick a random vector r. Check that A times B times r equals C times r. That's n-squared work instead of n-cubed. So it's cheap enough to leave switched on in real runs, where there is no reference answer to compare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About the measurements.
Everything I'm about to show was run on a single node. Four cores, one Xeon. Processes pinned to cores, never oversubscribed.
The code targets the Trento cluster, and the job scripts are written, but those runs are still queued. So keep that in mind. What follows validates the algorithms and the model. It says nothing about a real network.
On the build, one flag I want to declare. I enable FMA contraction. It's about twenty percent faster, and it changes the very last bit of the result. It's much weaker than fast-math, no reordering of arithmetic. But it is a semantic change, so I say so rather than hiding it.
And the measurement protocol follows the standard guidelines. Ten repetitions, each a fresh process launch, with a warm-up first. A barrier before the timer. And I take the slowest process, because the slowest one is what you actually wait for.
I never average inside the C code. Every repetition goes to a CSV, and the statistics happen afterwards. Medians and bootstrap confidence intervals. No outliers removed.
And every run is sized to take about a tenth of a second. Anything shorter and you're just measuring process startup.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Let's start with the local kernel. That's the code doing the actual multiply inside one process.
I wrote three versions. The naive one gets seven and a half gigaflops. The cache-blocked one, about ten. And the packed one, thirty.
So four times faster than naive.
For reference, I measured OpenBLAS on the same problem. It gets sixty-six. So I'm at about half of a professional library. For hand-written C, I'll take that.
Now, why am I showing you a single-core result in a parallel computing talk?
Because if the kernel is slow, computation swamps everything else. At ten gigaflops, compute is a hundred times bigger than communication. Every graph after this one would just be measuring my inner loop.
So a fast kernel isn't a bonus here. It's what makes the rest measurable.
On the right is a roofline. It tells you whether you're limited by memory or by the processor. The turning point is at five; my problem sits at twenty-five. All three kernels are far to the right of it. So they're compute-bound. The gap to the roof is about vectorisation, not memory.
One last note: the flat bars for four threads are just this machine. It only has four cores, and the MPI processes are already using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 HEADLINE SLIDE. SLOW DOWN. **
This is the main result.
I ran five different matrix shapes on four processes. Blue is the standard fixed two-by-two grid. Orange is my planner choosing for itself.
Start with the first one, short and fat. Small output, huge inner dimension.
The planner picks one-by-one-by-four. Meaning: don't split the output at all. Split K four ways instead.
That's thirty-six percent faster. And notice, a fixed 2D grid can't even express that choice. It has no K axis.
Two more. When the matrix is wide, it picks a one-by-four grid, twenty-four percent faster. When it's tall, four-by-one, twelve percent.
For those three the confidence intervals don't overlap. So those wins are real.
The fourth one, tall-skinny, is nominally six percent faster, but the intervals overlap. So I don't claim it. I only claim it does no harm.
And the fifth one, square matrices, it actually loses. Five percent slower. And that one's real too.
So: three real wins out of five. Three is the honest score, not five.
The next slide explains the loss.
--- NOTE ---
The chart legend says fixed 8x8 grid. That is a wrong label from the plotting script. The experiment is at P=4, so the baseline is 2x2. Say so if anyone spots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So how good is the model?
First I measure the machine. Latency, one microsecond. Bandwidth, four gigabytes a second. Compute, about thirty gigaflops.
Then I compare prediction against reality. For panel widths from sixty-four up to five hundred, the model is within twenty percent. I'd fixed thirty percent as my threshold beforehand. So it passes.
But at panel width sixteen it's off by thirty-five percent. And the reason is interesting.
My model says the panel width only affects latency.
Now look at the table. The communication column barely moves. And the pure latency part is twenty microseconds. Nothing at all.
What actually changes is the compute column. Two hundred and twenty milliseconds, down to one hundred and twenty.
Because a narrow panel means lots of tiny kernel calls. And my kernel needs a wide panel to be efficient.
So the textbook says panel width is a latency knob. On this machine, it isn't. It's a kernel-efficiency knob. And leaving that out costs me a third.
And that's also why the planner lost on square matrices. There, communication is ten milliseconds against a hundred and fifty of compute. So it's ranking options that differ by less than one percent, which is below its own accuracy.
It's essentially guessing between near-ties.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Three quicker results. All on one node.
First, scaling. One, two, four processes gives speedups of one point nine and three point five. That's eighty-nine percent efficiency at four.
But let me be clear, this is a single node. The network here is really just memory. It says nothing about a real cluster.
Second, the engines. SUMMA gets a hundred and twenty gigaflops. 2.5D, a hundred and seventeen. Naive 1D, only ninety-five.
The chart on the right shows why. Naive 1D moves one and a half times more data. And that's the point from the beginning: its traffic doesn't shrink when you add processes.
Cannon is actually the fastest, at a hundred and twenty-four. But only on the one case it's allowed to run, square and divisible. Slightly faster where it works, useless everywhere else.
That's exactly why I built on SUMMA.
Third, the replication depth. One is best, two slightly worse, four much worse.
That's expected. With only four processes, theory puts the optimum around one point six, so there's no useful value to pick. Testing that properly needs a bigger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Two smaller findings.
The first is a broadcast optimisation. Normally every process receives the panel over the network. Instead, one process per node receives it, and the others read it straight out of shared memory.
That halves the data crossing the network. And I verified that number.
But there's a catch worth telling you. Once the panel is shared, it's a shared resource. A fast process can overwrite a panel that a slower neighbour is still reading. So you need a barrier before reusing it.
And barriers are exactly what overlapping communication is supposed to avoid. So this trick doesn't combine with pipelining.
And since I only have one node, a timing comparison would be meaningless. So I report the mechanism and the byte saving, and I don't claim a speedup.
The second finding is numerical. When you change the configuration, the additions happen in a different order. So results aren't bit-identical across configurations.
Rather than hide that, I measured it. The error is around ten to the minus fifteen everywhere. That's exactly what you expect for double precision at this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So, to conclude.
A distributed matrix multiply can be genuinely generic. Any shape, any number of processes, any grid. Without giving up performance.
And the layout is worth choosing at run time. My planner is a few dozen lines, and it wins between twelve and thirty-six percent on three of the five shapes I tested. And it finds layouts a fixed 2D grid simply cannot express.
The model predicts real runtime within twenty percent, as long as the panel isn't tiny.
And correctness is solid. Forty-three tests pass, and the Freivalds check works at full scale.
Now the three limitations, and I want to be straight about them.
One. The planner loses five percent on square matrices, because there it's ranking options that differ by less than its own accuracy. The fix is simple: if the predictions are too close together, fall back to the conventional grid.
Two. My model blames the panel width on latency, when the real effect is kernel efficiency. The fix is to make the compute term depend on panel width.
Three, and this is the big one. Everything here is single node. It validates the algorithms, the model and the correctness. But it does not test the communication claims at scale. The multi-node runs are queued, not finished. And on a real network the bandwidth constant will be about ten times worse than what I measured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Future work, in the order I'd do it.
First: actually run the cluster campaign. The scripts are written.
Second: support float as well as double. That halves the data volume, which matters exactly when you're bandwidth-limited.
Third: persistent collectives from MPI-4, as a third broadcast option.
Fourth: a network roofline, to see which configurations are network-limited.
And fifth: compare against COSMA on the same shapes. That's the proper reference point for my claim, and it's the experiment I'd most want to run next.
Everything is reproducible. The source, the job scripts, the raw CSVs and every figure are in the repository. The tests build and pass with one command. And every figure regenerates from the committed data with a fixed random seed, so you get exactly the same picture.
Thank you. I'm happy to take questions.
=========================== Q&amp;A CHEAT SHEET ===========================
Why not use ScaLAPACK or a library?
  The point was to study the decomposition choice, which a library hides. And block-cyclic
  exists for LU/QR load balance; GEMM work is uniform, so plain blocks are simpler and faster
  to index.
Your kernel is only half of OpenBLAS. Isn't that the bottleneck?
  It's hand-written C, no assembly. The roofline shows it's compute-bound, four times past
  the ridge, so the gap is vectorisation, not memory. What matters here is that it's fast
  enough for communication to be visible. Swapping in BLAS would only change gamma.
Why does the planner lose on square matrices? Doesn't that break your claim?
  On square shapes all candidates are within one percent in the model, below the model's own
  accuracy, so it's picking among near-ties. Fix: if the predicted spread is smaller than the
  residual error, keep the conventional grid. The wins are on skewed shapes, where candidates
  differ by tens of percent.
How does a prime P work?
  The only factorisations are 1xP or Px1, times c. Uneven blocks handle any dimension.
  Tested at P = 2, 3, 5, 7.
Is 2.5D ever useful in your results?
  Not at four processes: P to the one-third is 1.59, so no feasible c between 1 and 2. But
  it's what makes the 1x1x4 win possible, that IS the 2.5D engine. A real c sweep needs 64+.
How do you verify a result too big for a reference?
  Freivalds. Random vector r, check A(Br) is approximately Cr, n-squared work. A wrong C
  passes one trial with probability at most one half; trials are independent.
What does ffp-contract=fast change? Is it cheating?
  It fuses a*b+c into one FMA, one rounding instead of two. No reassociation, so it is not
  fast-math. Changes the last bit, gains about twenty percent, and can be turned off with
  one flag.
Why single node only?
  The multi-node campaign is scripted, six PBS jobs, but hadn't run in time. Single-node
  results validate correctness, algorithms and calibration. They cannot validate the
  communication claims, and I'd rather say that than present memory bandwidth as if it were
  an interconnect.
Why the k-slab 2.5D instead of the original Solomonik-Demmel?
  The original replicates A and B across layers and needs its own schedule. The k-slab form
  runs the existing SUMMA on a slice of K per layer plus one reduce. Forty lines, same
  asymptotics for GEMM, extra memory is only c copies of C.
What about float support?
  Not implemented, scalar_t is a compile-time double. Plan is an include-template plus an
  MPI type trait. Float halves communication volume, which is why it's first in future work
  after the cluster runs.
Is the shared-memory byte saving measured?
  No, it's a model: panel bytes the policy asks the network for. No hardware counters were
  available. I say so and don't claim a timing win.
Isn't your planner just a worse COSMA?
  Yes, deliberately. Smaller search space, no optimality proof, but calibrated to the actual
  machine and about forty lines. The contribution is the cost-benefit ratio, not beating COSMA.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1188720"/>
            <a:ext cx="8046720" cy="146304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 Generic Distributed-Memory GEMM</a:t>
            </a:r>
            <a:endParaRPr lang="en-US" sz="3000" dirty="0"/>
          </a:p>
          <a:p>
            <a:pPr indent="0" marL="0">
              <a:buNone/>
            </a:pPr>
            <a:r>
              <a:rPr lang="en-US" sz="3000" b="1" dirty="0">
                <a:solidFill>
                  <a:srgbClr val="FFFFFF"/>
                </a:solidFill>
                <a:latin typeface="Calibri" pitchFamily="34" charset="0"/>
                <a:ea typeface="Calibri" pitchFamily="34" charset="-122"/>
                <a:cs typeface="Calibri" pitchFamily="34" charset="-120"/>
              </a:rPr>
              <a:t>with a Cost-Model-Driven Decomposition Planner</a:t>
            </a:r>
            <a:endParaRPr lang="en-US" sz="3000" dirty="0"/>
          </a:p>
        </p:txBody>
      </p:sp>
      <p:sp>
        <p:nvSpPr>
          <p:cNvPr id="3" name="Text 1"/>
          <p:cNvSpPr txBox="1"/>
          <p:nvPr/>
        </p:nvSpPr>
        <p:spPr>
          <a:xfrm>
            <a:off x="548640" y="2743200"/>
            <a:ext cx="8046720" cy="45720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gemm2d  ·  C ← αAB + βC over a Pr × Pc × c process grid</a:t>
            </a:r>
            <a:endParaRPr lang="en-US" sz="1600" dirty="0"/>
          </a:p>
        </p:txBody>
      </p:sp>
      <p:sp>
        <p:nvSpPr>
          <p:cNvPr id="4" name="Text 2"/>
          <p:cNvSpPr txBox="1"/>
          <p:nvPr/>
        </p:nvSpPr>
        <p:spPr>
          <a:xfrm>
            <a:off x="548640" y="3749040"/>
            <a:ext cx="8046720" cy="73152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Saif Edine Safi  ·  Student ID 245473</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Parallel Computing — final project  ·  University of Trento</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The problem: “generic” is the hard part</a:t>
            </a:r>
            <a:endParaRPr lang="en-US" sz="24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400" i="1" dirty="0">
                <a:solidFill>
                  <a:srgbClr val="666666"/>
                </a:solidFill>
                <a:latin typeface="Calibri" pitchFamily="34" charset="0"/>
                <a:ea typeface="Calibri" pitchFamily="34" charset="-122"/>
                <a:cs typeface="Calibri" pitchFamily="34" charset="-120"/>
              </a:rPr>
              <a:t>Demonstration GEMMs make three assumptions. All three fail in practice.</a:t>
            </a:r>
            <a:endParaRPr lang="en-US" sz="1400" dirty="0"/>
          </a:p>
        </p:txBody>
      </p:sp>
      <p:sp>
        <p:nvSpPr>
          <p:cNvPr id="4" name="Shape 2"/>
          <p:cNvSpPr/>
          <p:nvPr/>
        </p:nvSpPr>
        <p:spPr>
          <a:xfrm>
            <a:off x="457200" y="1417320"/>
            <a:ext cx="2651760" cy="2194560"/>
          </a:xfrm>
          <a:prstGeom prst="roundRect">
            <a:avLst>
              <a:gd name="adj" fmla="val 3333"/>
            </a:avLst>
          </a:prstGeom>
          <a:solidFill>
            <a:srgbClr val="F2F4F8"/>
          </a:solidFill>
          <a:ln w="12700">
            <a:solidFill>
              <a:srgbClr val="F2F4F8"/>
            </a:solidFill>
            <a:prstDash val="solid"/>
          </a:ln>
        </p:spPr>
      </p:sp>
      <p:sp>
        <p:nvSpPr>
          <p:cNvPr id="5" name="Text 3"/>
          <p:cNvSpPr txBox="1"/>
          <p:nvPr/>
        </p:nvSpPr>
        <p:spPr>
          <a:xfrm>
            <a:off x="640080" y="1554480"/>
            <a:ext cx="2286000" cy="457200"/>
          </a:xfrm>
          <a:prstGeom prst="rect">
            <a:avLst/>
          </a:prstGeom>
          <a:noFill/>
          <a:ln/>
        </p:spPr>
        <p:txBody>
          <a:bodyPr wrap="square" lIns="0" tIns="0" rIns="0" bIns="0" rtlCol="0" anchor="ctr"/>
          <a:lstStyle/>
          <a:p>
            <a:pPr indent="0" marL="0">
              <a:buNone/>
            </a:pPr>
            <a:r>
              <a:rPr lang="en-US" sz="1600" b="1" dirty="0">
                <a:solidFill>
                  <a:srgbClr val="C8102E"/>
                </a:solidFill>
                <a:latin typeface="Calibri" pitchFamily="34" charset="0"/>
                <a:ea typeface="Calibri" pitchFamily="34" charset="-122"/>
                <a:cs typeface="Calibri" pitchFamily="34" charset="-120"/>
              </a:rPr>
              <a:t>✗  M = N = K</a:t>
            </a:r>
            <a:endParaRPr lang="en-US" sz="1600" dirty="0"/>
          </a:p>
        </p:txBody>
      </p:sp>
      <p:sp>
        <p:nvSpPr>
          <p:cNvPr id="6" name="Text 4"/>
          <p:cNvSpPr txBox="1"/>
          <p:nvPr/>
        </p:nvSpPr>
        <p:spPr>
          <a:xfrm>
            <a:off x="640080" y="2057400"/>
            <a:ext cx="2286000" cy="1463040"/>
          </a:xfrm>
          <a:prstGeom prst="rect">
            <a:avLst/>
          </a:prstGeom>
          <a:noFill/>
          <a:ln/>
        </p:spPr>
        <p:txBody>
          <a:bodyPr wrap="square" lIns="0" tIns="0" rIns="0" bIns="0" rtlCol="0" anchor="t"/>
          <a:lstStyle/>
          <a:p>
            <a:pPr indent="0" marL="0">
              <a:buNone/>
            </a:pPr>
            <a:r>
              <a:rPr lang="en-US" sz="1300" dirty="0">
                <a:solidFill>
                  <a:srgbClr val="222222"/>
                </a:solidFill>
                <a:latin typeface="Calibri" pitchFamily="34" charset="0"/>
                <a:ea typeface="Calibri" pitchFamily="34" charset="-122"/>
                <a:cs typeface="Calibri" pitchFamily="34" charset="-120"/>
              </a:rPr>
              <a:t>Real workloads are skewed. A Gram matrix AᵀA has K ≫ M, N. A deep-learning layer often has K ≪ M, N.</a:t>
            </a:r>
            <a:endParaRPr lang="en-US" sz="1300" dirty="0"/>
          </a:p>
        </p:txBody>
      </p:sp>
      <p:sp>
        <p:nvSpPr>
          <p:cNvPr id="7" name="Shape 5"/>
          <p:cNvSpPr/>
          <p:nvPr/>
        </p:nvSpPr>
        <p:spPr>
          <a:xfrm>
            <a:off x="3246120" y="1417320"/>
            <a:ext cx="2651760" cy="2194560"/>
          </a:xfrm>
          <a:prstGeom prst="roundRect">
            <a:avLst>
              <a:gd name="adj" fmla="val 3333"/>
            </a:avLst>
          </a:prstGeom>
          <a:solidFill>
            <a:srgbClr val="F2F4F8"/>
          </a:solidFill>
          <a:ln w="12700">
            <a:solidFill>
              <a:srgbClr val="F2F4F8"/>
            </a:solidFill>
            <a:prstDash val="solid"/>
          </a:ln>
        </p:spPr>
      </p:sp>
      <p:sp>
        <p:nvSpPr>
          <p:cNvPr id="8" name="Text 6"/>
          <p:cNvSpPr txBox="1"/>
          <p:nvPr/>
        </p:nvSpPr>
        <p:spPr>
          <a:xfrm>
            <a:off x="3429000" y="1554480"/>
            <a:ext cx="2286000" cy="457200"/>
          </a:xfrm>
          <a:prstGeom prst="rect">
            <a:avLst/>
          </a:prstGeom>
          <a:noFill/>
          <a:ln/>
        </p:spPr>
        <p:txBody>
          <a:bodyPr wrap="square" lIns="0" tIns="0" rIns="0" bIns="0" rtlCol="0" anchor="ctr"/>
          <a:lstStyle/>
          <a:p>
            <a:pPr indent="0" marL="0">
              <a:buNone/>
            </a:pPr>
            <a:r>
              <a:rPr lang="en-US" sz="1600" b="1" dirty="0">
                <a:solidFill>
                  <a:srgbClr val="C8102E"/>
                </a:solidFill>
                <a:latin typeface="Calibri" pitchFamily="34" charset="0"/>
                <a:ea typeface="Calibri" pitchFamily="34" charset="-122"/>
                <a:cs typeface="Calibri" pitchFamily="34" charset="-120"/>
              </a:rPr>
              <a:t>✗  P is a perfect square</a:t>
            </a:r>
            <a:endParaRPr lang="en-US" sz="1600" dirty="0"/>
          </a:p>
        </p:txBody>
      </p:sp>
      <p:sp>
        <p:nvSpPr>
          <p:cNvPr id="9" name="Text 7"/>
          <p:cNvSpPr txBox="1"/>
          <p:nvPr/>
        </p:nvSpPr>
        <p:spPr>
          <a:xfrm>
            <a:off x="3429000" y="2057400"/>
            <a:ext cx="2286000" cy="1463040"/>
          </a:xfrm>
          <a:prstGeom prst="rect">
            <a:avLst/>
          </a:prstGeom>
          <a:noFill/>
          <a:ln/>
        </p:spPr>
        <p:txBody>
          <a:bodyPr wrap="square" lIns="0" tIns="0" rIns="0" bIns="0" rtlCol="0" anchor="t"/>
          <a:lstStyle/>
          <a:p>
            <a:pPr indent="0" marL="0">
              <a:buNone/>
            </a:pPr>
            <a:r>
              <a:rPr lang="en-US" sz="1300" dirty="0">
                <a:solidFill>
                  <a:srgbClr val="222222"/>
                </a:solidFill>
                <a:latin typeface="Calibri" pitchFamily="34" charset="0"/>
                <a:ea typeface="Calibri" pitchFamily="34" charset="-122"/>
                <a:cs typeface="Calibri" pitchFamily="34" charset="-120"/>
              </a:rPr>
              <a:t>The scheduler grants whatever it grants — including prime process counts like 7 or 13.</a:t>
            </a:r>
            <a:endParaRPr lang="en-US" sz="1300" dirty="0"/>
          </a:p>
        </p:txBody>
      </p:sp>
      <p:sp>
        <p:nvSpPr>
          <p:cNvPr id="10" name="Shape 8"/>
          <p:cNvSpPr/>
          <p:nvPr/>
        </p:nvSpPr>
        <p:spPr>
          <a:xfrm>
            <a:off x="6035040" y="1417320"/>
            <a:ext cx="2651760" cy="2194560"/>
          </a:xfrm>
          <a:prstGeom prst="roundRect">
            <a:avLst>
              <a:gd name="adj" fmla="val 3333"/>
            </a:avLst>
          </a:prstGeom>
          <a:solidFill>
            <a:srgbClr val="F2F4F8"/>
          </a:solidFill>
          <a:ln w="12700">
            <a:solidFill>
              <a:srgbClr val="F2F4F8"/>
            </a:solidFill>
            <a:prstDash val="solid"/>
          </a:ln>
        </p:spPr>
      </p:sp>
      <p:sp>
        <p:nvSpPr>
          <p:cNvPr id="11" name="Text 9"/>
          <p:cNvSpPr txBox="1"/>
          <p:nvPr/>
        </p:nvSpPr>
        <p:spPr>
          <a:xfrm>
            <a:off x="6217920" y="1554480"/>
            <a:ext cx="2286000" cy="457200"/>
          </a:xfrm>
          <a:prstGeom prst="rect">
            <a:avLst/>
          </a:prstGeom>
          <a:noFill/>
          <a:ln/>
        </p:spPr>
        <p:txBody>
          <a:bodyPr wrap="square" lIns="0" tIns="0" rIns="0" bIns="0" rtlCol="0" anchor="ctr"/>
          <a:lstStyle/>
          <a:p>
            <a:pPr indent="0" marL="0">
              <a:buNone/>
            </a:pPr>
            <a:r>
              <a:rPr lang="en-US" sz="1600" b="1" dirty="0">
                <a:solidFill>
                  <a:srgbClr val="C8102E"/>
                </a:solidFill>
                <a:latin typeface="Calibri" pitchFamily="34" charset="0"/>
                <a:ea typeface="Calibri" pitchFamily="34" charset="-122"/>
                <a:cs typeface="Calibri" pitchFamily="34" charset="-120"/>
              </a:rPr>
              <a:t>✗  √P divides n</a:t>
            </a:r>
            <a:endParaRPr lang="en-US" sz="1600" dirty="0"/>
          </a:p>
        </p:txBody>
      </p:sp>
      <p:sp>
        <p:nvSpPr>
          <p:cNvPr id="12" name="Text 10"/>
          <p:cNvSpPr txBox="1"/>
          <p:nvPr/>
        </p:nvSpPr>
        <p:spPr>
          <a:xfrm>
            <a:off x="6217920" y="2057400"/>
            <a:ext cx="2286000" cy="1463040"/>
          </a:xfrm>
          <a:prstGeom prst="rect">
            <a:avLst/>
          </a:prstGeom>
          <a:noFill/>
          <a:ln/>
        </p:spPr>
        <p:txBody>
          <a:bodyPr wrap="square" lIns="0" tIns="0" rIns="0" bIns="0" rtlCol="0" anchor="t"/>
          <a:lstStyle/>
          <a:p>
            <a:pPr indent="0" marL="0">
              <a:buNone/>
            </a:pPr>
            <a:r>
              <a:rPr lang="en-US" sz="1300" dirty="0">
                <a:solidFill>
                  <a:srgbClr val="222222"/>
                </a:solidFill>
                <a:latin typeface="Calibri" pitchFamily="34" charset="0"/>
                <a:ea typeface="Calibri" pitchFamily="34" charset="-122"/>
                <a:cs typeface="Calibri" pitchFamily="34" charset="-120"/>
              </a:rPr>
              <a:t>Dimensions almost never divide evenly. Padding wastes flops and hides bugs.</a:t>
            </a:r>
            <a:endParaRPr lang="en-US" sz="1300" dirty="0"/>
          </a:p>
        </p:txBody>
      </p:sp>
      <p:sp>
        <p:nvSpPr>
          <p:cNvPr id="13" name="Text 11"/>
          <p:cNvSpPr txBox="1"/>
          <p:nvPr/>
        </p:nvSpPr>
        <p:spPr>
          <a:xfrm>
            <a:off x="457200" y="3840480"/>
            <a:ext cx="8229600" cy="731520"/>
          </a:xfrm>
          <a:prstGeom prst="rect">
            <a:avLst/>
          </a:prstGeom>
          <a:noFill/>
          <a:ln/>
        </p:spPr>
        <p:txBody>
          <a:bodyPr wrap="square" lIns="0" tIns="0" rIns="0" bIns="0" rtlCol="0" anchor="ctr"/>
          <a:lstStyle/>
          <a:p>
            <a:pPr indent="0" marL="0">
              <a:buNone/>
            </a:pPr>
            <a:r>
              <a:rPr lang="en-US" sz="1400" i="1" dirty="0">
                <a:solidFill>
                  <a:srgbClr val="1E2761"/>
                </a:solidFill>
                <a:latin typeface="Calibri" pitchFamily="34" charset="0"/>
                <a:ea typeface="Calibri" pitchFamily="34" charset="-122"/>
                <a:cs typeface="Calibri" pitchFamily="34" charset="-120"/>
              </a:rPr>
              <a:t>In distributed memory, GEMM cost is dominated by data movement, not arithmetic — and data movement is decided by how operands are laid out across processes.</a:t>
            </a:r>
            <a:endParaRPr lang="en-US" sz="1400" dirty="0"/>
          </a:p>
        </p:txBody>
      </p:sp>
      <p:sp>
        <p:nvSpPr>
          <p:cNvPr id="14" name="Text 12"/>
          <p:cNvSpPr txBox="1"/>
          <p:nvPr/>
        </p:nvSpPr>
        <p:spPr>
          <a:xfrm>
            <a:off x="7589520" y="4800600"/>
            <a:ext cx="1371600" cy="228600"/>
          </a:xfrm>
          <a:prstGeom prst="rect">
            <a:avLst/>
          </a:prstGeom>
          <a:noFill/>
          <a:ln/>
        </p:spPr>
        <p:txBody>
          <a:bodyPr wrap="square" lIns="0" tIns="0" rIns="0" bIns="0" rtlCol="0" anchor="ctr"/>
          <a:lstStyle/>
          <a:p>
            <a:pPr algn="r" indent="0" marL="0">
              <a:buNone/>
            </a:pPr>
            <a:r>
              <a:rPr lang="en-US" sz="900" dirty="0">
                <a:solidFill>
                  <a:srgbClr val="666666"/>
                </a:solidFill>
                <a:latin typeface="Calibri" pitchFamily="34" charset="0"/>
                <a:ea typeface="Calibri" pitchFamily="34" charset="-122"/>
                <a:cs typeface="Calibri" pitchFamily="34" charset="-120"/>
              </a:rPr>
              <a:t>gemm2d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Goals and scope</a:t>
            </a:r>
            <a:endParaRPr lang="en-US" sz="2400" dirty="0"/>
          </a:p>
        </p:txBody>
      </p:sp>
      <p:sp>
        <p:nvSpPr>
          <p:cNvPr id="3" name="Text 1"/>
          <p:cNvSpPr txBox="1"/>
          <p:nvPr/>
        </p:nvSpPr>
        <p:spPr>
          <a:xfrm>
            <a:off x="457200" y="1280160"/>
            <a:ext cx="402336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Genericity on three axes</a:t>
            </a:r>
            <a:endParaRPr lang="en-US" sz="1600" dirty="0"/>
          </a:p>
        </p:txBody>
      </p:sp>
      <p:sp>
        <p:nvSpPr>
          <p:cNvPr id="4" name="Text 2"/>
          <p:cNvSpPr txBox="1"/>
          <p:nvPr/>
        </p:nvSpPr>
        <p:spPr>
          <a:xfrm>
            <a:off x="457200" y="1691640"/>
            <a:ext cx="4023360" cy="2011680"/>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rgbClr val="222222"/>
                </a:solidFill>
                <a:latin typeface="Calibri" pitchFamily="34" charset="0"/>
                <a:ea typeface="Calibri" pitchFamily="34" charset="-122"/>
                <a:cs typeface="Calibri" pitchFamily="34" charset="-120"/>
              </a:rPr>
              <a:t>G1 — shape: arbitrary M, N, K with α, β scaling  ✓</a:t>
            </a:r>
            <a:endParaRPr lang="en-US" sz="1400" dirty="0"/>
          </a:p>
          <a:p>
            <a:pPr marL="342900" indent="-342900">
              <a:spcAft>
                <a:spcPts val="600"/>
              </a:spcAft>
              <a:buSzPct val="100000"/>
              <a:buChar char="•"/>
            </a:pPr>
            <a:r>
              <a:rPr lang="en-US" sz="1400" b="1" dirty="0">
                <a:solidFill>
                  <a:srgbClr val="222222"/>
                </a:solidFill>
                <a:latin typeface="Calibri" pitchFamily="34" charset="0"/>
                <a:ea typeface="Calibri" pitchFamily="34" charset="-122"/>
                <a:cs typeface="Calibri" pitchFamily="34" charset="-120"/>
              </a:rPr>
              <a:t>G2 — machine: arbitrary P (incl. primes), arbitrary grids, non-divisible dimensions  ✓</a:t>
            </a:r>
            <a:endParaRPr lang="en-US" sz="1400" dirty="0"/>
          </a:p>
          <a:p>
            <a:pPr marL="342900" indent="-342900">
              <a:spcAft>
                <a:spcPts val="600"/>
              </a:spcAft>
              <a:buSzPct val="100000"/>
              <a:buChar char="•"/>
            </a:pPr>
            <a:r>
              <a:rPr lang="en-US" sz="1400" dirty="0">
                <a:solidFill>
                  <a:srgbClr val="222222"/>
                </a:solidFill>
                <a:latin typeface="Calibri" pitchFamily="34" charset="0"/>
                <a:ea typeface="Calibri" pitchFamily="34" charset="-122"/>
                <a:cs typeface="Calibri" pitchFamily="34" charset="-120"/>
              </a:rPr>
              <a:t>G3 — type: float / double through one code path  (scoped out)</a:t>
            </a:r>
            <a:endParaRPr lang="en-US" sz="1400" dirty="0"/>
          </a:p>
        </p:txBody>
      </p:sp>
      <p:sp>
        <p:nvSpPr>
          <p:cNvPr id="5" name="Text 3"/>
          <p:cNvSpPr txBox="1"/>
          <p:nvPr/>
        </p:nvSpPr>
        <p:spPr>
          <a:xfrm>
            <a:off x="4754880" y="1280160"/>
            <a:ext cx="393192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Four objectives</a:t>
            </a:r>
            <a:endParaRPr lang="en-US" sz="1600" dirty="0"/>
          </a:p>
        </p:txBody>
      </p:sp>
      <p:sp>
        <p:nvSpPr>
          <p:cNvPr id="6" name="Text 4"/>
          <p:cNvSpPr txBox="1"/>
          <p:nvPr/>
        </p:nvSpPr>
        <p:spPr>
          <a:xfrm>
            <a:off x="4754880" y="1691640"/>
            <a:ext cx="393192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22222"/>
                </a:solidFill>
                <a:latin typeface="Calibri" pitchFamily="34" charset="0"/>
                <a:ea typeface="Calibri" pitchFamily="34" charset="-122"/>
                <a:cs typeface="Calibri" pitchFamily="34" charset="-120"/>
              </a:rPr>
              <a:t>Correct for arbitrary M, N, K, P</a:t>
            </a:r>
            <a:endParaRPr lang="en-US" sz="1400" dirty="0"/>
          </a:p>
          <a:p>
            <a:pPr marL="342900" indent="-342900">
              <a:spcAft>
                <a:spcPts val="600"/>
              </a:spcAft>
              <a:buSzPct val="100000"/>
              <a:buChar char="•"/>
            </a:pPr>
            <a:r>
              <a:rPr lang="en-US" sz="1400" dirty="0">
                <a:solidFill>
                  <a:srgbClr val="222222"/>
                </a:solidFill>
                <a:latin typeface="Calibri" pitchFamily="34" charset="0"/>
                <a:ea typeface="Calibri" pitchFamily="34" charset="-122"/>
                <a:cs typeface="Calibri" pitchFamily="34" charset="-120"/>
              </a:rPr>
              <a:t>A local kernel fast enough that scaling measures the decomposition, not the inner loop</a:t>
            </a:r>
            <a:endParaRPr lang="en-US" sz="1400" dirty="0"/>
          </a:p>
          <a:p>
            <a:pPr marL="342900" indent="-342900">
              <a:spcAft>
                <a:spcPts val="600"/>
              </a:spcAft>
              <a:buSzPct val="100000"/>
              <a:buChar char="•"/>
            </a:pPr>
            <a:r>
              <a:rPr lang="en-US" sz="1400" dirty="0">
                <a:solidFill>
                  <a:srgbClr val="222222"/>
                </a:solidFill>
                <a:latin typeface="Calibri" pitchFamily="34" charset="0"/>
                <a:ea typeface="Calibri" pitchFamily="34" charset="-122"/>
                <a:cs typeface="Calibri" pitchFamily="34" charset="-120"/>
              </a:rPr>
              <a:t>A run-time planner that picks the grid from a calibrated model, not by convention</a:t>
            </a:r>
            <a:endParaRPr lang="en-US" sz="1400" dirty="0"/>
          </a:p>
          <a:p>
            <a:pPr marL="342900" indent="-342900">
              <a:spcAft>
                <a:spcPts val="600"/>
              </a:spcAft>
              <a:buSzPct val="100000"/>
              <a:buChar char="•"/>
            </a:pPr>
            <a:r>
              <a:rPr lang="en-US" sz="1400" dirty="0">
                <a:solidFill>
                  <a:srgbClr val="222222"/>
                </a:solidFill>
                <a:latin typeface="Calibri" pitchFamily="34" charset="0"/>
                <a:ea typeface="Calibri" pitchFamily="34" charset="-122"/>
                <a:cs typeface="Calibri" pitchFamily="34" charset="-120"/>
              </a:rPr>
              <a:t>A verification strategy usable at full problem size</a:t>
            </a:r>
            <a:endParaRPr lang="en-US" sz="1400" dirty="0"/>
          </a:p>
        </p:txBody>
      </p:sp>
      <p:sp>
        <p:nvSpPr>
          <p:cNvPr id="7" name="Text 5"/>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200" dirty="0">
                <a:solidFill>
                  <a:srgbClr val="666666"/>
                </a:solidFill>
                <a:latin typeface="Calibri" pitchFamily="34" charset="0"/>
                <a:ea typeface="Calibri" pitchFamily="34" charset="-122"/>
                <a:cs typeface="Calibri" pitchFamily="34" charset="-120"/>
              </a:rPr>
              <a:t>Explicit non-goals: sparse matrices, Strassen-class algorithms, GPU offload, fault tolerance.</a:t>
            </a:r>
            <a:endParaRPr lang="en-US" sz="1200" dirty="0"/>
          </a:p>
        </p:txBody>
      </p:sp>
      <p:sp>
        <p:nvSpPr>
          <p:cNvPr id="8" name="Text 6"/>
          <p:cNvSpPr txBox="1"/>
          <p:nvPr/>
        </p:nvSpPr>
        <p:spPr>
          <a:xfrm>
            <a:off x="7589520" y="4800600"/>
            <a:ext cx="1371600" cy="228600"/>
          </a:xfrm>
          <a:prstGeom prst="rect">
            <a:avLst/>
          </a:prstGeom>
          <a:noFill/>
          <a:ln/>
        </p:spPr>
        <p:txBody>
          <a:bodyPr wrap="square" lIns="0" tIns="0" rIns="0" bIns="0" rtlCol="0" anchor="ctr"/>
          <a:lstStyle/>
          <a:p>
            <a:pPr algn="r" indent="0" marL="0">
              <a:buNone/>
            </a:pPr>
            <a:r>
              <a:rPr lang="en-US" sz="900" dirty="0">
                <a:solidFill>
                  <a:srgbClr val="666666"/>
                </a:solidFill>
                <a:latin typeface="Calibri" pitchFamily="34" charset="0"/>
                <a:ea typeface="Calibri" pitchFamily="34" charset="-122"/>
                <a:cs typeface="Calibri" pitchFamily="34" charset="-120"/>
              </a:rPr>
              <a:t>gemm2d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State of the art — and the gap</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737360"/>
                <a:gridCol w="3291840"/>
                <a:gridCol w="3200400"/>
              </a:tblGrid>
              <a:tr h="36576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Method</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Idea</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Limitation</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r>
              <a:tr h="365760">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Cannon (1969)</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Skew + √P nearest-neighbour shifts; optimal bandwidth, O(√P) messages</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Square grid, divisible dims only — exactly what G2 rejects</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SUMMA (1997)</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Broadcast b-wide panels along process rows/columns</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Natively generic in shape and grid → our base engine</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ScaLAPACK</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2D block-cyclic layout</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Block-cyclic exists for LU/QR imbalance; GEMM work is uniform → we use plain 2D blocks</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2.5D (Solomonik &amp; Demmel 2011)</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Replicate over c layers, split k; bandwidth ÷ √c</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Reduction cost grows with c; optimum near c ≈ P^(1/3)</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COSMA (2019)</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Near I/O-optimal decomposition for any M, N, K, P, memory</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Elaborate optimality argument; engineering default is still a hard-coded √P × √P grid</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4" name="Text 1"/>
          <p:cNvSpPr txBox="1"/>
          <p:nvPr/>
        </p:nvSpPr>
        <p:spPr>
          <a:xfrm>
            <a:off x="457200" y="4160520"/>
            <a:ext cx="8229600" cy="548640"/>
          </a:xfrm>
          <a:prstGeom prst="rect">
            <a:avLst/>
          </a:prstGeom>
          <a:noFill/>
          <a:ln/>
        </p:spPr>
        <p:txBody>
          <a:bodyPr wrap="square" lIns="0" tIns="0" rIns="0" bIns="0" rtlCol="0" anchor="ctr"/>
          <a:lstStyle/>
          <a:p>
            <a:pPr indent="0" marL="0">
              <a:buNone/>
            </a:pPr>
            <a:r>
              <a:rPr lang="en-US" sz="1200" b="1" dirty="0">
                <a:solidFill>
                  <a:srgbClr val="C8102E"/>
                </a:solidFill>
                <a:latin typeface="Calibri" pitchFamily="34" charset="0"/>
                <a:ea typeface="Calibri" pitchFamily="34" charset="-122"/>
                <a:cs typeface="Calibri" pitchFamily="34" charset="-120"/>
              </a:rPr>
              <a:t>Our gap: how much of COSMA’s benefit is recovered by simply enumerating the grid factorisations of P and minimising a calibrated cost model? A few dozen lines, droppable into any SUMMA.</a:t>
            </a:r>
            <a:endParaRPr lang="en-US" sz="1200" dirty="0"/>
          </a:p>
        </p:txBody>
      </p:sp>
      <p:sp>
        <p:nvSpPr>
          <p:cNvPr id="5" name="Text 2"/>
          <p:cNvSpPr txBox="1"/>
          <p:nvPr/>
        </p:nvSpPr>
        <p:spPr>
          <a:xfrm>
            <a:off x="7589520" y="4800600"/>
            <a:ext cx="1371600" cy="228600"/>
          </a:xfrm>
          <a:prstGeom prst="rect">
            <a:avLst/>
          </a:prstGeom>
          <a:noFill/>
          <a:ln/>
        </p:spPr>
        <p:txBody>
          <a:bodyPr wrap="square" lIns="0" tIns="0" rIns="0" bIns="0" rtlCol="0" anchor="ctr"/>
          <a:lstStyle/>
          <a:p>
            <a:pPr algn="r" indent="0" marL="0">
              <a:buNone/>
            </a:pPr>
            <a:r>
              <a:rPr lang="en-US" sz="900" dirty="0">
                <a:solidFill>
                  <a:srgbClr val="666666"/>
                </a:solidFill>
                <a:latin typeface="Calibri" pitchFamily="34" charset="0"/>
                <a:ea typeface="Calibri" pitchFamily="34" charset="-122"/>
                <a:cs typeface="Calibri" pitchFamily="34" charset="-120"/>
              </a:rPr>
              <a:t>gemm2d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One layout, four engines</a:t>
            </a:r>
            <a:endParaRPr lang="en-US" sz="24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400" i="1" dirty="0">
                <a:solidFill>
                  <a:srgbClr val="666666"/>
                </a:solidFill>
                <a:latin typeface="Calibri" pitchFamily="34" charset="0"/>
                <a:ea typeface="Calibri" pitchFamily="34" charset="-122"/>
                <a:cs typeface="Calibri" pitchFamily="34" charset="-120"/>
              </a:rPr>
              <a:t>Every engine shares a single distributed-matrix descriptor</a:t>
            </a:r>
            <a:endParaRPr lang="en-US" sz="1400" dirty="0"/>
          </a:p>
        </p:txBody>
      </p:sp>
      <p:sp>
        <p:nvSpPr>
          <p:cNvPr id="4" name="Text 2"/>
          <p:cNvSpPr txBox="1"/>
          <p:nvPr/>
        </p:nvSpPr>
        <p:spPr>
          <a:xfrm>
            <a:off x="457200" y="1325880"/>
            <a:ext cx="5120640" cy="3291840"/>
          </a:xfrm>
          <a:prstGeom prst="rect">
            <a:avLst/>
          </a:prstGeom>
          <a:noFill/>
          <a:ln/>
        </p:spPr>
        <p:txBody>
          <a:bodyPr wrap="square" lIns="0" tIns="0" rIns="0" bIns="0" rtlCol="0" anchor="t"/>
          <a:lstStyle/>
          <a:p>
            <a:pPr marL="342900" indent="-342900">
              <a:spcAft>
                <a:spcPts val="600"/>
              </a:spcAft>
              <a:buSzPct val="100000"/>
              <a:buChar char="•"/>
            </a:pPr>
            <a:r>
              <a:rPr lang="en-US" sz="1300" b="1" dirty="0">
                <a:solidFill>
                  <a:srgbClr val="222222"/>
                </a:solidFill>
                <a:latin typeface="Calibri" pitchFamily="34" charset="0"/>
                <a:ea typeface="Calibri" pitchFamily="34" charset="-122"/>
                <a:cs typeface="Calibri" pitchFamily="34" charset="-120"/>
              </a:rPr>
              <a:t>Descriptor: global dims, local block dims + leading dimension, global index of local (0,0)</a:t>
            </a:r>
            <a:endParaRPr lang="en-US" sz="1300" dirty="0"/>
          </a:p>
          <a:p>
            <a:pPr marL="342900" indent="-342900">
              <a:spcAft>
                <a:spcPts val="600"/>
              </a:spcAft>
              <a:buSzPct val="100000"/>
              <a:buChar char="•"/>
            </a:pPr>
            <a:r>
              <a:rPr lang="en-US" sz="1300" b="1" dirty="0">
                <a:solidFill>
                  <a:srgbClr val="222222"/>
                </a:solidFill>
                <a:latin typeface="Calibri" pitchFamily="34" charset="0"/>
                <a:ea typeface="Calibri" pitchFamily="34" charset="-122"/>
                <a:cs typeface="Calibri" pitchFamily="34" charset="-120"/>
              </a:rPr>
              <a:t>Balanced uneven blocks, no padding:  size(i) = ⌊G/P⌋ + [ i &lt; G mod P ]</a:t>
            </a:r>
            <a:endParaRPr lang="en-US" sz="1300" dirty="0"/>
          </a:p>
          <a:p>
            <a:pPr lvl="1" marL="381000" indent="-190500">
              <a:spcAft>
                <a:spcPts val="600"/>
              </a:spcAft>
              <a:buSzPct val="100000"/>
              <a:buChar char="•"/>
            </a:pPr>
            <a:r>
              <a:rPr lang="en-US" sz="1150" dirty="0">
                <a:solidFill>
                  <a:srgbClr val="222222"/>
                </a:solidFill>
                <a:latin typeface="Calibri" pitchFamily="34" charset="0"/>
                <a:ea typeface="Calibri" pitchFamily="34" charset="-122"/>
                <a:cs typeface="Calibri" pitchFamily="34" charset="-120"/>
              </a:rPr>
              <a:t>Padding would waste O((Pr+Pc)·n) flops and hide bugs</a:t>
            </a:r>
            <a:endParaRPr lang="en-US" sz="1300" dirty="0"/>
          </a:p>
          <a:p>
            <a:pPr lvl="1" marL="381000" indent="-190500">
              <a:spcAft>
                <a:spcPts val="600"/>
              </a:spcAft>
              <a:buSzPct val="100000"/>
              <a:buChar char="•"/>
            </a:pPr>
            <a:r>
              <a:rPr lang="en-US" sz="1150" dirty="0">
                <a:solidFill>
                  <a:srgbClr val="222222"/>
                </a:solidFill>
                <a:latin typeface="Calibri" pitchFamily="34" charset="0"/>
                <a:ea typeface="Calibri" pitchFamily="34" charset="-122"/>
                <a:cs typeface="Calibri" pitchFamily="34" charset="-120"/>
              </a:rPr>
              <a:t>Ragged last blocks, 1×P grids and P &gt; M all reduce to this one partition function</a:t>
            </a:r>
            <a:endParaRPr lang="en-US" sz="1300" dirty="0"/>
          </a:p>
          <a:p>
            <a:pPr marL="342900" indent="-342900">
              <a:spcAft>
                <a:spcPts val="600"/>
              </a:spcAft>
              <a:buSzPct val="100000"/>
              <a:buChar char="•"/>
            </a:pPr>
            <a:r>
              <a:rPr lang="en-US" sz="1300" b="1" dirty="0">
                <a:solidFill>
                  <a:srgbClr val="222222"/>
                </a:solidFill>
                <a:latin typeface="Calibri" pitchFamily="34" charset="0"/>
                <a:ea typeface="Calibri" pitchFamily="34" charset="-122"/>
                <a:cs typeface="Calibri" pitchFamily="34" charset="-120"/>
              </a:rPr>
              <a:t>No scatter from rank 0: each process generates its block from a deterministic index hash</a:t>
            </a:r>
            <a:endParaRPr lang="en-US" sz="1300" dirty="0"/>
          </a:p>
          <a:p>
            <a:pPr lvl="1" marL="381000" indent="-190500">
              <a:spcAft>
                <a:spcPts val="600"/>
              </a:spcAft>
              <a:buSzPct val="100000"/>
              <a:buChar char="•"/>
            </a:pPr>
            <a:r>
              <a:rPr lang="en-US" sz="1150" dirty="0">
                <a:solidFill>
                  <a:srgbClr val="222222"/>
                </a:solidFill>
                <a:latin typeface="Calibri" pitchFamily="34" charset="0"/>
                <a:ea typeface="Calibri" pitchFamily="34" charset="-122"/>
                <a:cs typeface="Calibri" pitchFamily="34" charset="-120"/>
              </a:rPr>
              <a:t>Element (i, j) has the same value for any P and any grid → results bit-comparable across configurations</a:t>
            </a:r>
            <a:endParaRPr lang="en-US" sz="1300" dirty="0"/>
          </a:p>
          <a:p>
            <a:pPr marL="342900" indent="-342900">
              <a:spcAft>
                <a:spcPts val="600"/>
              </a:spcAft>
              <a:buSzPct val="100000"/>
              <a:buChar char="•"/>
            </a:pPr>
            <a:r>
              <a:rPr lang="en-US" sz="1300" b="1" dirty="0">
                <a:solidFill>
                  <a:srgbClr val="222222"/>
                </a:solidFill>
                <a:latin typeface="Calibri" pitchFamily="34" charset="0"/>
                <a:ea typeface="Calibri" pitchFamily="34" charset="-122"/>
                <a:cs typeface="Calibri" pitchFamily="34" charset="-120"/>
              </a:rPr>
              <a:t>Row / column / depth communicators via MPI_Comm_split on a Pr × Pc × c grid</a:t>
            </a:r>
            <a:endParaRPr lang="en-US" sz="1300" dirty="0"/>
          </a:p>
        </p:txBody>
      </p:sp>
      <p:sp>
        <p:nvSpPr>
          <p:cNvPr id="5" name="Shape 3"/>
          <p:cNvSpPr/>
          <p:nvPr/>
        </p:nvSpPr>
        <p:spPr>
          <a:xfrm>
            <a:off x="5852160" y="1371600"/>
            <a:ext cx="2834640" cy="713232"/>
          </a:xfrm>
          <a:prstGeom prst="roundRect">
            <a:avLst>
              <a:gd name="adj" fmla="val 10256"/>
            </a:avLst>
          </a:prstGeom>
          <a:solidFill>
            <a:srgbClr val="F2F4F8"/>
          </a:solidFill>
          <a:ln w="12700">
            <a:solidFill>
              <a:srgbClr val="F2F4F8"/>
            </a:solidFill>
            <a:prstDash val="solid"/>
          </a:ln>
        </p:spPr>
      </p:sp>
      <p:sp>
        <p:nvSpPr>
          <p:cNvPr id="6" name="Text 4"/>
          <p:cNvSpPr txBox="1"/>
          <p:nvPr/>
        </p:nvSpPr>
        <p:spPr>
          <a:xfrm>
            <a:off x="5989320" y="1426464"/>
            <a:ext cx="2560320" cy="274320"/>
          </a:xfrm>
          <a:prstGeom prst="rect">
            <a:avLst/>
          </a:prstGeom>
          <a:noFill/>
          <a:ln/>
        </p:spPr>
        <p:txBody>
          <a:bodyPr wrap="square" lIns="0" tIns="0" rIns="0" bIns="0" rtlCol="0" anchor="ctr"/>
          <a:lstStyle/>
          <a:p>
            <a:pPr indent="0" marL="0">
              <a:buNone/>
            </a:pPr>
            <a:r>
              <a:rPr lang="en-US" sz="1300" b="1" dirty="0">
                <a:solidFill>
                  <a:srgbClr val="1E2761"/>
                </a:solidFill>
                <a:latin typeface="Courier New" pitchFamily="34" charset="0"/>
                <a:ea typeface="Courier New" pitchFamily="34" charset="-122"/>
                <a:cs typeface="Courier New" pitchFamily="34" charset="-120"/>
              </a:rPr>
              <a:t>naive1d</a:t>
            </a:r>
            <a:endParaRPr lang="en-US" sz="1300" dirty="0"/>
          </a:p>
        </p:txBody>
      </p:sp>
      <p:sp>
        <p:nvSpPr>
          <p:cNvPr id="7" name="Text 5"/>
          <p:cNvSpPr txBox="1"/>
          <p:nvPr/>
        </p:nvSpPr>
        <p:spPr>
          <a:xfrm>
            <a:off x="5989320" y="1700784"/>
            <a:ext cx="2560320" cy="365760"/>
          </a:xfrm>
          <a:prstGeom prst="rect">
            <a:avLst/>
          </a:prstGeom>
          <a:noFill/>
          <a:ln/>
        </p:spPr>
        <p:txBody>
          <a:bodyPr wrap="square" lIns="0" tIns="0" rIns="0" bIns="0" rtlCol="0" anchor="ctr"/>
          <a:lstStyle/>
          <a:p>
            <a:pPr indent="0" marL="0">
              <a:buNone/>
            </a:pPr>
            <a:r>
              <a:rPr lang="en-US" sz="1000" dirty="0">
                <a:solidFill>
                  <a:srgbClr val="666666"/>
                </a:solidFill>
                <a:latin typeface="Calibri" pitchFamily="34" charset="0"/>
                <a:ea typeface="Calibri" pitchFamily="34" charset="-122"/>
                <a:cs typeface="Calibri" pitchFamily="34" charset="-120"/>
              </a:rPr>
              <a:t>baseline; per-rank volume K·N independent of P</a:t>
            </a:r>
            <a:endParaRPr lang="en-US" sz="1000" dirty="0"/>
          </a:p>
        </p:txBody>
      </p:sp>
      <p:sp>
        <p:nvSpPr>
          <p:cNvPr id="8" name="Shape 6"/>
          <p:cNvSpPr/>
          <p:nvPr/>
        </p:nvSpPr>
        <p:spPr>
          <a:xfrm>
            <a:off x="5852160" y="2194560"/>
            <a:ext cx="2834640" cy="713232"/>
          </a:xfrm>
          <a:prstGeom prst="roundRect">
            <a:avLst>
              <a:gd name="adj" fmla="val 10256"/>
            </a:avLst>
          </a:prstGeom>
          <a:solidFill>
            <a:srgbClr val="F2F4F8"/>
          </a:solidFill>
          <a:ln w="12700">
            <a:solidFill>
              <a:srgbClr val="F2F4F8"/>
            </a:solidFill>
            <a:prstDash val="solid"/>
          </a:ln>
        </p:spPr>
      </p:sp>
      <p:sp>
        <p:nvSpPr>
          <p:cNvPr id="9" name="Text 7"/>
          <p:cNvSpPr txBox="1"/>
          <p:nvPr/>
        </p:nvSpPr>
        <p:spPr>
          <a:xfrm>
            <a:off x="5989320" y="2249424"/>
            <a:ext cx="2560320" cy="274320"/>
          </a:xfrm>
          <a:prstGeom prst="rect">
            <a:avLst/>
          </a:prstGeom>
          <a:noFill/>
          <a:ln/>
        </p:spPr>
        <p:txBody>
          <a:bodyPr wrap="square" lIns="0" tIns="0" rIns="0" bIns="0" rtlCol="0" anchor="ctr"/>
          <a:lstStyle/>
          <a:p>
            <a:pPr indent="0" marL="0">
              <a:buNone/>
            </a:pPr>
            <a:r>
              <a:rPr lang="en-US" sz="1300" b="1" dirty="0">
                <a:solidFill>
                  <a:srgbClr val="1E2761"/>
                </a:solidFill>
                <a:latin typeface="Courier New" pitchFamily="34" charset="0"/>
                <a:ea typeface="Courier New" pitchFamily="34" charset="-122"/>
                <a:cs typeface="Courier New" pitchFamily="34" charset="-120"/>
              </a:rPr>
              <a:t>cannon</a:t>
            </a:r>
            <a:endParaRPr lang="en-US" sz="1300" dirty="0"/>
          </a:p>
        </p:txBody>
      </p:sp>
      <p:sp>
        <p:nvSpPr>
          <p:cNvPr id="10" name="Text 8"/>
          <p:cNvSpPr txBox="1"/>
          <p:nvPr/>
        </p:nvSpPr>
        <p:spPr>
          <a:xfrm>
            <a:off x="5989320" y="2523744"/>
            <a:ext cx="2560320" cy="365760"/>
          </a:xfrm>
          <a:prstGeom prst="rect">
            <a:avLst/>
          </a:prstGeom>
          <a:noFill/>
          <a:ln/>
        </p:spPr>
        <p:txBody>
          <a:bodyPr wrap="square" lIns="0" tIns="0" rIns="0" bIns="0" rtlCol="0" anchor="ctr"/>
          <a:lstStyle/>
          <a:p>
            <a:pPr indent="0" marL="0">
              <a:buNone/>
            </a:pPr>
            <a:r>
              <a:rPr lang="en-US" sz="1000" dirty="0">
                <a:solidFill>
                  <a:srgbClr val="666666"/>
                </a:solidFill>
                <a:latin typeface="Calibri" pitchFamily="34" charset="0"/>
                <a:ea typeface="Calibri" pitchFamily="34" charset="-122"/>
                <a:cs typeface="Calibri" pitchFamily="34" charset="-120"/>
              </a:rPr>
              <a:t>baseline; refuses non-square / non-divisible</a:t>
            </a:r>
            <a:endParaRPr lang="en-US" sz="1000" dirty="0"/>
          </a:p>
        </p:txBody>
      </p:sp>
      <p:sp>
        <p:nvSpPr>
          <p:cNvPr id="11" name="Shape 9"/>
          <p:cNvSpPr/>
          <p:nvPr/>
        </p:nvSpPr>
        <p:spPr>
          <a:xfrm>
            <a:off x="5852160" y="3017520"/>
            <a:ext cx="2834640" cy="713232"/>
          </a:xfrm>
          <a:prstGeom prst="roundRect">
            <a:avLst>
              <a:gd name="adj" fmla="val 10256"/>
            </a:avLst>
          </a:prstGeom>
          <a:solidFill>
            <a:srgbClr val="F2F4F8"/>
          </a:solidFill>
          <a:ln w="12700">
            <a:solidFill>
              <a:srgbClr val="F2F4F8"/>
            </a:solidFill>
            <a:prstDash val="solid"/>
          </a:ln>
        </p:spPr>
      </p:sp>
      <p:sp>
        <p:nvSpPr>
          <p:cNvPr id="12" name="Text 10"/>
          <p:cNvSpPr txBox="1"/>
          <p:nvPr/>
        </p:nvSpPr>
        <p:spPr>
          <a:xfrm>
            <a:off x="5989320" y="3072384"/>
            <a:ext cx="2560320" cy="274320"/>
          </a:xfrm>
          <a:prstGeom prst="rect">
            <a:avLst/>
          </a:prstGeom>
          <a:noFill/>
          <a:ln/>
        </p:spPr>
        <p:txBody>
          <a:bodyPr wrap="square" lIns="0" tIns="0" rIns="0" bIns="0" rtlCol="0" anchor="ctr"/>
          <a:lstStyle/>
          <a:p>
            <a:pPr indent="0" marL="0">
              <a:buNone/>
            </a:pPr>
            <a:r>
              <a:rPr lang="en-US" sz="1300" b="1" dirty="0">
                <a:solidFill>
                  <a:srgbClr val="1E2761"/>
                </a:solidFill>
                <a:latin typeface="Courier New" pitchFamily="34" charset="0"/>
                <a:ea typeface="Courier New" pitchFamily="34" charset="-122"/>
                <a:cs typeface="Courier New" pitchFamily="34" charset="-120"/>
              </a:rPr>
              <a:t>summa</a:t>
            </a:r>
            <a:endParaRPr lang="en-US" sz="1300" dirty="0"/>
          </a:p>
        </p:txBody>
      </p:sp>
      <p:sp>
        <p:nvSpPr>
          <p:cNvPr id="13" name="Text 11"/>
          <p:cNvSpPr txBox="1"/>
          <p:nvPr/>
        </p:nvSpPr>
        <p:spPr>
          <a:xfrm>
            <a:off x="5989320" y="3346704"/>
            <a:ext cx="2560320" cy="365760"/>
          </a:xfrm>
          <a:prstGeom prst="rect">
            <a:avLst/>
          </a:prstGeom>
          <a:noFill/>
          <a:ln/>
        </p:spPr>
        <p:txBody>
          <a:bodyPr wrap="square" lIns="0" tIns="0" rIns="0" bIns="0" rtlCol="0" anchor="ctr"/>
          <a:lstStyle/>
          <a:p>
            <a:pPr indent="0" marL="0">
              <a:buNone/>
            </a:pPr>
            <a:r>
              <a:rPr lang="en-US" sz="1000" dirty="0">
                <a:solidFill>
                  <a:srgbClr val="666666"/>
                </a:solidFill>
                <a:latin typeface="Calibri" pitchFamily="34" charset="0"/>
                <a:ea typeface="Calibri" pitchFamily="34" charset="-122"/>
                <a:cs typeface="Calibri" pitchFamily="34" charset="-120"/>
              </a:rPr>
              <a:t>base engine; generic panels</a:t>
            </a:r>
            <a:endParaRPr lang="en-US" sz="1000" dirty="0"/>
          </a:p>
        </p:txBody>
      </p:sp>
      <p:sp>
        <p:nvSpPr>
          <p:cNvPr id="14" name="Shape 12"/>
          <p:cNvSpPr/>
          <p:nvPr/>
        </p:nvSpPr>
        <p:spPr>
          <a:xfrm>
            <a:off x="5852160" y="3840480"/>
            <a:ext cx="2834640" cy="713232"/>
          </a:xfrm>
          <a:prstGeom prst="roundRect">
            <a:avLst>
              <a:gd name="adj" fmla="val 10256"/>
            </a:avLst>
          </a:prstGeom>
          <a:solidFill>
            <a:srgbClr val="F2F4F8"/>
          </a:solidFill>
          <a:ln w="12700">
            <a:solidFill>
              <a:srgbClr val="F2F4F8"/>
            </a:solidFill>
            <a:prstDash val="solid"/>
          </a:ln>
        </p:spPr>
      </p:sp>
      <p:sp>
        <p:nvSpPr>
          <p:cNvPr id="15" name="Text 13"/>
          <p:cNvSpPr txBox="1"/>
          <p:nvPr/>
        </p:nvSpPr>
        <p:spPr>
          <a:xfrm>
            <a:off x="5989320" y="3895344"/>
            <a:ext cx="2560320" cy="274320"/>
          </a:xfrm>
          <a:prstGeom prst="rect">
            <a:avLst/>
          </a:prstGeom>
          <a:noFill/>
          <a:ln/>
        </p:spPr>
        <p:txBody>
          <a:bodyPr wrap="square" lIns="0" tIns="0" rIns="0" bIns="0" rtlCol="0" anchor="ctr"/>
          <a:lstStyle/>
          <a:p>
            <a:pPr indent="0" marL="0">
              <a:buNone/>
            </a:pPr>
            <a:r>
              <a:rPr lang="en-US" sz="1300" b="1" dirty="0">
                <a:solidFill>
                  <a:srgbClr val="1E2761"/>
                </a:solidFill>
                <a:latin typeface="Courier New" pitchFamily="34" charset="0"/>
                <a:ea typeface="Courier New" pitchFamily="34" charset="-122"/>
                <a:cs typeface="Courier New" pitchFamily="34" charset="-120"/>
              </a:rPr>
              <a:t>summa25d</a:t>
            </a:r>
            <a:endParaRPr lang="en-US" sz="1300" dirty="0"/>
          </a:p>
        </p:txBody>
      </p:sp>
      <p:sp>
        <p:nvSpPr>
          <p:cNvPr id="16" name="Text 14"/>
          <p:cNvSpPr txBox="1"/>
          <p:nvPr/>
        </p:nvSpPr>
        <p:spPr>
          <a:xfrm>
            <a:off x="5989320" y="4169664"/>
            <a:ext cx="2560320" cy="365760"/>
          </a:xfrm>
          <a:prstGeom prst="rect">
            <a:avLst/>
          </a:prstGeom>
          <a:noFill/>
          <a:ln/>
        </p:spPr>
        <p:txBody>
          <a:bodyPr wrap="square" lIns="0" tIns="0" rIns="0" bIns="0" rtlCol="0" anchor="ctr"/>
          <a:lstStyle/>
          <a:p>
            <a:pPr indent="0" marL="0">
              <a:buNone/>
            </a:pPr>
            <a:r>
              <a:rPr lang="en-US" sz="1000" dirty="0">
                <a:solidFill>
                  <a:srgbClr val="666666"/>
                </a:solidFill>
                <a:latin typeface="Calibri" pitchFamily="34" charset="0"/>
                <a:ea typeface="Calibri" pitchFamily="34" charset="-122"/>
                <a:cs typeface="Calibri" pitchFamily="34" charset="-120"/>
              </a:rPr>
              <a:t>SUMMA per k-slab + MPI_Reduce over depth</a:t>
            </a:r>
            <a:endParaRPr lang="en-US" sz="1000" dirty="0"/>
          </a:p>
        </p:txBody>
      </p:sp>
      <p:sp>
        <p:nvSpPr>
          <p:cNvPr id="17" name="Text 15"/>
          <p:cNvSpPr txBox="1"/>
          <p:nvPr/>
        </p:nvSpPr>
        <p:spPr>
          <a:xfrm>
            <a:off x="7589520" y="4800600"/>
            <a:ext cx="1371600" cy="228600"/>
          </a:xfrm>
          <a:prstGeom prst="rect">
            <a:avLst/>
          </a:prstGeom>
          <a:noFill/>
          <a:ln/>
        </p:spPr>
        <p:txBody>
          <a:bodyPr wrap="square" lIns="0" tIns="0" rIns="0" bIns="0" rtlCol="0" anchor="ctr"/>
          <a:lstStyle/>
          <a:p>
            <a:pPr algn="r" indent="0" marL="0">
              <a:buNone/>
            </a:pPr>
            <a:r>
              <a:rPr lang="en-US" sz="900" dirty="0">
                <a:solidFill>
                  <a:srgbClr val="666666"/>
                </a:solidFill>
                <a:latin typeface="Calibri" pitchFamily="34" charset="0"/>
                <a:ea typeface="Calibri" pitchFamily="34" charset="-122"/>
                <a:cs typeface="Calibri" pitchFamily="34" charset="-120"/>
              </a:rPr>
              <a:t>gemm2d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Generic SUMMA and the 2.5D engine</a:t>
            </a:r>
            <a:endParaRPr lang="en-US" sz="2400" dirty="0"/>
          </a:p>
        </p:txBody>
      </p:sp>
      <p:sp>
        <p:nvSpPr>
          <p:cNvPr id="3" name="Shape 1"/>
          <p:cNvSpPr/>
          <p:nvPr/>
        </p:nvSpPr>
        <p:spPr>
          <a:xfrm>
            <a:off x="457200" y="1234440"/>
            <a:ext cx="4206240" cy="3383280"/>
          </a:xfrm>
          <a:prstGeom prst="roundRect">
            <a:avLst>
              <a:gd name="adj" fmla="val 2162"/>
            </a:avLst>
          </a:prstGeom>
          <a:solidFill>
            <a:srgbClr val="F2F4F8"/>
          </a:solidFill>
          <a:ln w="12700">
            <a:solidFill>
              <a:srgbClr val="F2F4F8"/>
            </a:solidFill>
            <a:prstDash val="solid"/>
          </a:ln>
        </p:spPr>
      </p:sp>
      <p:sp>
        <p:nvSpPr>
          <p:cNvPr id="4" name="Text 2"/>
          <p:cNvSpPr txBox="1"/>
          <p:nvPr/>
        </p:nvSpPr>
        <p:spPr>
          <a:xfrm>
            <a:off x="640080" y="1325880"/>
            <a:ext cx="393192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Generic SUMMA over k-range [K₀, K₀+Kℓ)</a:t>
            </a:r>
            <a:endParaRPr lang="en-US" sz="1300" dirty="0"/>
          </a:p>
        </p:txBody>
      </p:sp>
      <p:sp>
        <p:nvSpPr>
          <p:cNvPr id="5" name="Text 3"/>
          <p:cNvSpPr txBox="1"/>
          <p:nvPr/>
        </p:nvSpPr>
        <p:spPr>
          <a:xfrm>
            <a:off x="640080" y="1691640"/>
            <a:ext cx="3931920" cy="2834640"/>
          </a:xfrm>
          <a:prstGeom prst="rect">
            <a:avLst/>
          </a:prstGeom>
          <a:noFill/>
          <a:ln/>
        </p:spPr>
        <p:txBody>
          <a:bodyPr wrap="square" lIns="0" tIns="0" rIns="0" bIns="0" rtlCol="0" anchor="t"/>
          <a:lstStyle/>
          <a:p>
            <a:pPr indent="0" marL="0">
              <a:buNone/>
            </a:pPr>
            <a:r>
              <a:rPr lang="en-US" sz="1050" dirty="0">
                <a:solidFill>
                  <a:srgbClr val="222222"/>
                </a:solidFill>
                <a:latin typeface="Courier New" pitchFamily="34" charset="0"/>
                <a:ea typeface="Courier New" pitchFamily="34" charset="-122"/>
                <a:cs typeface="Courier New" pitchFamily="34" charset="-120"/>
              </a:rPr>
              <a:t>scale local C by β  (once)</a:t>
            </a:r>
            <a:endParaRPr lang="en-US" sz="1050" dirty="0"/>
          </a:p>
          <a:p>
            <a:pPr indent="0" marL="0">
              <a:buNone/>
            </a:pPr>
            <a:r>
              <a:rPr lang="en-US" sz="1050" dirty="0">
                <a:solidFill>
                  <a:srgbClr val="222222"/>
                </a:solidFill>
                <a:latin typeface="Courier New" pitchFamily="34" charset="0"/>
                <a:ea typeface="Courier New" pitchFamily="34" charset="-122"/>
                <a:cs typeface="Courier New" pitchFamily="34" charset="-120"/>
              </a:rPr>
              <a:t>k ← 0</a:t>
            </a:r>
            <a:endParaRPr lang="en-US" sz="1050" dirty="0"/>
          </a:p>
          <a:p>
            <a:pPr indent="0" marL="0">
              <a:buNone/>
            </a:pPr>
            <a:r>
              <a:rPr lang="en-US" sz="1050" dirty="0">
                <a:solidFill>
                  <a:srgbClr val="222222"/>
                </a:solidFill>
                <a:latin typeface="Courier New" pitchFamily="34" charset="0"/>
                <a:ea typeface="Courier New" pitchFamily="34" charset="-122"/>
                <a:cs typeface="Courier New" pitchFamily="34" charset="-120"/>
              </a:rPr>
              <a:t>while k &lt; Kℓ:</a:t>
            </a:r>
            <a:endParaRPr lang="en-US" sz="1050" dirty="0"/>
          </a:p>
          <a:p>
            <a:pPr indent="0" marL="0">
              <a:buNone/>
            </a:pPr>
            <a:r>
              <a:rPr lang="en-US" sz="1050" dirty="0">
                <a:solidFill>
                  <a:srgbClr val="222222"/>
                </a:solidFill>
                <a:latin typeface="Courier New" pitchFamily="34" charset="0"/>
                <a:ea typeface="Courier New" pitchFamily="34" charset="-122"/>
                <a:cs typeface="Courier New" pitchFamily="34" charset="-120"/>
              </a:rPr>
              <a:t>   r_c ← Owner(k, Pc);  r_r ← Owner(k, Pr)</a:t>
            </a:r>
            <a:endParaRPr lang="en-US" sz="1050" dirty="0"/>
          </a:p>
          <a:p>
            <a:pPr indent="0" marL="0">
              <a:buNone/>
            </a:pPr>
            <a:r>
              <a:rPr lang="en-US" sz="1050" dirty="0">
                <a:solidFill>
                  <a:srgbClr val="222222"/>
                </a:solidFill>
                <a:latin typeface="Courier New" pitchFamily="34" charset="0"/>
                <a:ea typeface="Courier New" pitchFamily="34" charset="-122"/>
                <a:cs typeface="Courier New" pitchFamily="34" charset="-120"/>
              </a:rPr>
              <a:t>   k_b ← min(k+b, End(r_c), End(r_r), Kℓ) − k</a:t>
            </a:r>
            <a:endParaRPr lang="en-US" sz="1050" dirty="0"/>
          </a:p>
          <a:p>
            <a:pPr indent="0" marL="0">
              <a:buNone/>
            </a:pPr>
            <a:r>
              <a:rPr lang="en-US" sz="1050" dirty="0">
                <a:solidFill>
                  <a:srgbClr val="222222"/>
                </a:solidFill>
                <a:latin typeface="Courier New" pitchFamily="34" charset="0"/>
                <a:ea typeface="Courier New" pitchFamily="34" charset="-122"/>
                <a:cs typeface="Courier New" pitchFamily="34" charset="-120"/>
              </a:rPr>
              <a:t>   if my_col = r_c: pack A(:, k:k+k_b)</a:t>
            </a:r>
            <a:endParaRPr lang="en-US" sz="1050" dirty="0"/>
          </a:p>
          <a:p>
            <a:pPr indent="0" marL="0">
              <a:buNone/>
            </a:pPr>
            <a:r>
              <a:rPr lang="en-US" sz="1050" dirty="0">
                <a:solidFill>
                  <a:srgbClr val="222222"/>
                </a:solidFill>
                <a:latin typeface="Courier New" pitchFamily="34" charset="0"/>
                <a:ea typeface="Courier New" pitchFamily="34" charset="-122"/>
                <a:cs typeface="Courier New" pitchFamily="34" charset="-120"/>
              </a:rPr>
              <a:t>   Bcast(A_buf, m·k_b, r_c, row_comm)</a:t>
            </a:r>
            <a:endParaRPr lang="en-US" sz="1050" dirty="0"/>
          </a:p>
          <a:p>
            <a:pPr indent="0" marL="0">
              <a:buNone/>
            </a:pPr>
            <a:r>
              <a:rPr lang="en-US" sz="1050" dirty="0">
                <a:solidFill>
                  <a:srgbClr val="222222"/>
                </a:solidFill>
                <a:latin typeface="Courier New" pitchFamily="34" charset="0"/>
                <a:ea typeface="Courier New" pitchFamily="34" charset="-122"/>
                <a:cs typeface="Courier New" pitchFamily="34" charset="-120"/>
              </a:rPr>
              <a:t>   if my_row = r_r: pack B(k:k+k_b, :)</a:t>
            </a:r>
            <a:endParaRPr lang="en-US" sz="1050" dirty="0"/>
          </a:p>
          <a:p>
            <a:pPr indent="0" marL="0">
              <a:buNone/>
            </a:pPr>
            <a:r>
              <a:rPr lang="en-US" sz="1050" dirty="0">
                <a:solidFill>
                  <a:srgbClr val="222222"/>
                </a:solidFill>
                <a:latin typeface="Courier New" pitchFamily="34" charset="0"/>
                <a:ea typeface="Courier New" pitchFamily="34" charset="-122"/>
                <a:cs typeface="Courier New" pitchFamily="34" charset="-120"/>
              </a:rPr>
              <a:t>   Bcast(B_buf, k_b·n, r_r, col_comm)</a:t>
            </a:r>
            <a:endParaRPr lang="en-US" sz="1050" dirty="0"/>
          </a:p>
          <a:p>
            <a:pPr indent="0" marL="0">
              <a:buNone/>
            </a:pPr>
            <a:r>
              <a:rPr lang="en-US" sz="1050" dirty="0">
                <a:solidFill>
                  <a:srgbClr val="222222"/>
                </a:solidFill>
                <a:latin typeface="Courier New" pitchFamily="34" charset="0"/>
                <a:ea typeface="Courier New" pitchFamily="34" charset="-122"/>
                <a:cs typeface="Courier New" pitchFamily="34" charset="-120"/>
              </a:rPr>
              <a:t>   C += α · A_buf · B_buf</a:t>
            </a:r>
            <a:endParaRPr lang="en-US" sz="1050" dirty="0"/>
          </a:p>
          <a:p>
            <a:pPr indent="0" marL="0">
              <a:buNone/>
            </a:pPr>
            <a:r>
              <a:rPr lang="en-US" sz="1050" dirty="0">
                <a:solidFill>
                  <a:srgbClr val="222222"/>
                </a:solidFill>
                <a:latin typeface="Courier New" pitchFamily="34" charset="0"/>
                <a:ea typeface="Courier New" pitchFamily="34" charset="-122"/>
                <a:cs typeface="Courier New" pitchFamily="34" charset="-120"/>
              </a:rPr>
              <a:t>   k ← k + k_b</a:t>
            </a:r>
            <a:endParaRPr lang="en-US" sz="1050" dirty="0"/>
          </a:p>
        </p:txBody>
      </p:sp>
      <p:sp>
        <p:nvSpPr>
          <p:cNvPr id="6" name="Text 4"/>
          <p:cNvSpPr txBox="1"/>
          <p:nvPr/>
        </p:nvSpPr>
        <p:spPr>
          <a:xfrm>
            <a:off x="4937760" y="1280160"/>
            <a:ext cx="3749040" cy="3383280"/>
          </a:xfrm>
          <a:prstGeom prst="rect">
            <a:avLst/>
          </a:prstGeom>
          <a:noFill/>
          <a:ln/>
        </p:spPr>
        <p:txBody>
          <a:bodyPr wrap="square" lIns="0" tIns="0" rIns="0" bIns="0" rtlCol="0" anchor="t"/>
          <a:lstStyle/>
          <a:p>
            <a:pPr marL="342900" indent="-342900">
              <a:spcAft>
                <a:spcPts val="600"/>
              </a:spcAft>
              <a:buSzPct val="100000"/>
              <a:buChar char="•"/>
            </a:pPr>
            <a:r>
              <a:rPr lang="en-US" sz="1200" b="1" dirty="0">
                <a:solidFill>
                  <a:srgbClr val="222222"/>
                </a:solidFill>
                <a:latin typeface="Calibri" pitchFamily="34" charset="0"/>
                <a:ea typeface="Calibri" pitchFamily="34" charset="-122"/>
                <a:cs typeface="Calibri" pitchFamily="34" charset="-120"/>
              </a:rPr>
              <a:t>The generic subtlety: A’s k-dimension is split over Pc, B’s over Pr — the two partitions differ</a:t>
            </a:r>
            <a:endParaRPr lang="en-US" sz="1200" dirty="0"/>
          </a:p>
          <a:p>
            <a:pPr lvl="1" marL="381000" indent="-190500">
              <a:spcAft>
                <a:spcPts val="600"/>
              </a:spcAft>
              <a:buSzPct val="100000"/>
              <a:buChar char="•"/>
            </a:pPr>
            <a:r>
              <a:rPr lang="en-US" sz="1050" dirty="0">
                <a:solidFill>
                  <a:srgbClr val="222222"/>
                </a:solidFill>
                <a:latin typeface="Calibri" pitchFamily="34" charset="0"/>
                <a:ea typeface="Calibri" pitchFamily="34" charset="-122"/>
                <a:cs typeface="Calibri" pitchFamily="34" charset="-120"/>
              </a:rPr>
              <a:t>A panel of width b may straddle an ownership boundary in either operand → each step is clipped to the intersection of both owners’ ranges</a:t>
            </a:r>
            <a:endParaRPr lang="en-US" sz="1200" dirty="0"/>
          </a:p>
          <a:p>
            <a:pPr marL="342900" indent="-342900">
              <a:spcAft>
                <a:spcPts val="600"/>
              </a:spcAft>
              <a:buSzPct val="100000"/>
              <a:buChar char="•"/>
            </a:pPr>
            <a:r>
              <a:rPr lang="en-US" sz="1200" b="1" dirty="0">
                <a:solidFill>
                  <a:srgbClr val="222222"/>
                </a:solidFill>
                <a:latin typeface="Calibri" pitchFamily="34" charset="0"/>
                <a:ea typeface="Calibri" pitchFamily="34" charset="-122"/>
                <a:cs typeface="Calibri" pitchFamily="34" charset="-120"/>
              </a:rPr>
              <a:t>2.5D: layer ℓ gets k-slab [Off(K,c,ℓ), +Size(K,c,ℓ)), runs a full SUMMA, then one MPI_Reduce over depth</a:t>
            </a:r>
            <a:endParaRPr lang="en-US" sz="1200" dirty="0"/>
          </a:p>
          <a:p>
            <a:pPr lvl="1" marL="381000" indent="-190500">
              <a:spcAft>
                <a:spcPts val="600"/>
              </a:spcAft>
              <a:buSzPct val="100000"/>
              <a:buChar char="•"/>
            </a:pPr>
            <a:r>
              <a:rPr lang="en-US" sz="1050" dirty="0">
                <a:solidFill>
                  <a:srgbClr val="222222"/>
                </a:solidFill>
                <a:latin typeface="Calibri" pitchFamily="34" charset="0"/>
                <a:ea typeface="Calibri" pitchFamily="34" charset="-122"/>
                <a:cs typeface="Calibri" pitchFamily="34" charset="-120"/>
              </a:rPr>
              <a:t>k-slab variant (not the original A/B replication) composes with SUMMA in ~40 lines; only extra memory is c copies of C</a:t>
            </a:r>
            <a:endParaRPr lang="en-US" sz="1200" dirty="0"/>
          </a:p>
          <a:p>
            <a:pPr lvl="1" marL="381000" indent="-190500">
              <a:spcAft>
                <a:spcPts val="600"/>
              </a:spcAft>
              <a:buSzPct val="100000"/>
              <a:buChar char="•"/>
            </a:pPr>
            <a:r>
              <a:rPr lang="en-US" sz="1050" dirty="0">
                <a:solidFill>
                  <a:srgbClr val="222222"/>
                </a:solidFill>
                <a:latin typeface="Calibri" pitchFamily="34" charset="0"/>
                <a:ea typeface="Calibri" pitchFamily="34" charset="-122"/>
                <a:cs typeface="Calibri" pitchFamily="34" charset="-120"/>
              </a:rPr>
              <a:t>βC applied on layer 0 only, other layers start from zero → αAB + βC exactly once</a:t>
            </a:r>
            <a:endParaRPr lang="en-US" sz="1200" dirty="0"/>
          </a:p>
        </p:txBody>
      </p:sp>
      <p:sp>
        <p:nvSpPr>
          <p:cNvPr id="7" name="Text 5"/>
          <p:cNvSpPr txBox="1"/>
          <p:nvPr/>
        </p:nvSpPr>
        <p:spPr>
          <a:xfrm>
            <a:off x="7589520" y="4800600"/>
            <a:ext cx="1371600" cy="228600"/>
          </a:xfrm>
          <a:prstGeom prst="rect">
            <a:avLst/>
          </a:prstGeom>
          <a:noFill/>
          <a:ln/>
        </p:spPr>
        <p:txBody>
          <a:bodyPr wrap="square" lIns="0" tIns="0" rIns="0" bIns="0" rtlCol="0" anchor="ctr"/>
          <a:lstStyle/>
          <a:p>
            <a:pPr algn="r" indent="0" marL="0">
              <a:buNone/>
            </a:pPr>
            <a:r>
              <a:rPr lang="en-US" sz="900" dirty="0">
                <a:solidFill>
                  <a:srgbClr val="666666"/>
                </a:solidFill>
                <a:latin typeface="Calibri" pitchFamily="34" charset="0"/>
                <a:ea typeface="Calibri" pitchFamily="34" charset="-122"/>
                <a:cs typeface="Calibri" pitchFamily="34" charset="-120"/>
              </a:rPr>
              <a:t>gemm2d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Cost model and planner</a:t>
            </a:r>
            <a:endParaRPr lang="en-US" sz="24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400" i="1" dirty="0">
                <a:solidFill>
                  <a:srgbClr val="666666"/>
                </a:solidFill>
                <a:latin typeface="Calibri" pitchFamily="34" charset="0"/>
                <a:ea typeface="Calibri" pitchFamily="34" charset="-122"/>
                <a:cs typeface="Calibri" pitchFamily="34" charset="-120"/>
              </a:rPr>
              <a:t>Choose Pr, Pc, c and b at run time by minimising a calibrated α–β–γ model</a:t>
            </a:r>
            <a:endParaRPr lang="en-US" sz="1400" dirty="0"/>
          </a:p>
        </p:txBody>
      </p:sp>
      <p:sp>
        <p:nvSpPr>
          <p:cNvPr id="4" name="Shape 2"/>
          <p:cNvSpPr/>
          <p:nvPr/>
        </p:nvSpPr>
        <p:spPr>
          <a:xfrm>
            <a:off x="457200" y="1280160"/>
            <a:ext cx="8229600" cy="1051560"/>
          </a:xfrm>
          <a:prstGeom prst="roundRect">
            <a:avLst>
              <a:gd name="adj" fmla="val 6957"/>
            </a:avLst>
          </a:prstGeom>
          <a:solidFill>
            <a:srgbClr val="F2F4F8"/>
          </a:solidFill>
          <a:ln w="12700">
            <a:solidFill>
              <a:srgbClr val="F2F4F8"/>
            </a:solidFill>
            <a:prstDash val="solid"/>
          </a:ln>
        </p:spPr>
      </p:sp>
      <p:sp>
        <p:nvSpPr>
          <p:cNvPr id="5" name="Text 3"/>
          <p:cNvSpPr txBox="1"/>
          <p:nvPr/>
        </p:nvSpPr>
        <p:spPr>
          <a:xfrm>
            <a:off x="640080" y="1371600"/>
            <a:ext cx="7863840" cy="457200"/>
          </a:xfrm>
          <a:prstGeom prst="rect">
            <a:avLst/>
          </a:prstGeom>
          <a:noFill/>
          <a:ln/>
        </p:spPr>
        <p:txBody>
          <a:bodyPr wrap="square" lIns="0" tIns="0" rIns="0" bIns="0" rtlCol="0" anchor="ctr"/>
          <a:lstStyle/>
          <a:p>
            <a:pPr algn="ctr" indent="0" marL="0">
              <a:buNone/>
            </a:pPr>
            <a:r>
              <a:rPr lang="en-US" sz="1350" dirty="0">
                <a:solidFill>
                  <a:srgbClr val="1E2761"/>
                </a:solidFill>
                <a:latin typeface="Cambria" pitchFamily="34" charset="0"/>
                <a:ea typeface="Cambria" pitchFamily="34" charset="-122"/>
                <a:cs typeface="Cambria" pitchFamily="34" charset="-120"/>
              </a:rPr>
              <a:t>T  =  α · [ (K/c)/b · (log₂Pr + log₂Pc) + log₂c ]   +   β·w · [ (K/c)·(M/Pr + N/Pc) + c·M·N/P ]   +   γ · 2MNK/P</a:t>
            </a:r>
            <a:endParaRPr lang="en-US" sz="1350" dirty="0"/>
          </a:p>
        </p:txBody>
      </p:sp>
      <p:sp>
        <p:nvSpPr>
          <p:cNvPr id="6" name="Text 4"/>
          <p:cNvSpPr txBox="1"/>
          <p:nvPr/>
        </p:nvSpPr>
        <p:spPr>
          <a:xfrm>
            <a:off x="640080" y="1874520"/>
            <a:ext cx="7863840" cy="365760"/>
          </a:xfrm>
          <a:prstGeom prst="rect">
            <a:avLst/>
          </a:prstGeom>
          <a:noFill/>
          <a:ln/>
        </p:spPr>
        <p:txBody>
          <a:bodyPr wrap="square" lIns="0" tIns="0" rIns="0" bIns="0" rtlCol="0" anchor="ctr"/>
          <a:lstStyle/>
          <a:p>
            <a:pPr algn="ctr" indent="0" marL="0">
              <a:buNone/>
            </a:pPr>
            <a:r>
              <a:rPr lang="en-US" sz="1100" dirty="0">
                <a:solidFill>
                  <a:srgbClr val="666666"/>
                </a:solidFill>
                <a:latin typeface="Calibri" pitchFamily="34" charset="0"/>
                <a:ea typeface="Calibri" pitchFamily="34" charset="-122"/>
                <a:cs typeface="Calibri" pitchFamily="34" charset="-120"/>
              </a:rPr>
              <a:t>α = message latency     β = inverse bandwidth     γ = time per flop (achieved)     w = word size     b = panel width</a:t>
            </a:r>
            <a:endParaRPr lang="en-US" sz="1100" dirty="0"/>
          </a:p>
        </p:txBody>
      </p:sp>
      <p:sp>
        <p:nvSpPr>
          <p:cNvPr id="7" name="Text 5"/>
          <p:cNvSpPr txBox="1"/>
          <p:nvPr/>
        </p:nvSpPr>
        <p:spPr>
          <a:xfrm>
            <a:off x="457200" y="2423160"/>
            <a:ext cx="8229600" cy="2286000"/>
          </a:xfrm>
          <a:prstGeom prst="rect">
            <a:avLst/>
          </a:prstGeom>
          <a:noFill/>
          <a:ln/>
        </p:spPr>
        <p:txBody>
          <a:bodyPr wrap="square" lIns="0" tIns="0" rIns="0" bIns="0" rtlCol="0" anchor="t"/>
          <a:lstStyle/>
          <a:p>
            <a:pPr marL="342900" indent="-342900">
              <a:spcAft>
                <a:spcPts val="600"/>
              </a:spcAft>
              <a:buSzPct val="100000"/>
              <a:buChar char="•"/>
            </a:pPr>
            <a:r>
              <a:rPr lang="en-US" sz="1250" b="1" dirty="0">
                <a:solidFill>
                  <a:srgbClr val="222222"/>
                </a:solidFill>
                <a:latin typeface="Calibri" pitchFamily="34" charset="0"/>
                <a:ea typeface="Calibri" pitchFamily="34" charset="-122"/>
                <a:cs typeface="Calibri" pitchFamily="34" charset="-120"/>
              </a:rPr>
              <a:t>Planner enumerates every c | P, every Pr | (P/c), and b ∈ {32 … 1024}; drops configs over the per-rank memory budget; returns the minimiser</a:t>
            </a:r>
            <a:endParaRPr lang="en-US" sz="1250" dirty="0"/>
          </a:p>
          <a:p>
            <a:pPr lvl="1" marL="381000" indent="-190500">
              <a:spcAft>
                <a:spcPts val="600"/>
              </a:spcAft>
              <a:buSzPct val="100000"/>
              <a:buChar char="•"/>
            </a:pPr>
            <a:r>
              <a:rPr lang="en-US" sz="1100" dirty="0">
                <a:solidFill>
                  <a:srgbClr val="222222"/>
                </a:solidFill>
                <a:latin typeface="Calibri" pitchFamily="34" charset="0"/>
                <a:ea typeface="Calibri" pitchFamily="34" charset="-122"/>
                <a:cs typeface="Calibri" pitchFamily="34" charset="-120"/>
              </a:rPr>
              <a:t>P ≤ a few thousand → the search costs microseconds</a:t>
            </a:r>
            <a:endParaRPr lang="en-US" sz="1250" dirty="0"/>
          </a:p>
          <a:p>
            <a:pPr marL="342900" indent="-342900">
              <a:spcAft>
                <a:spcPts val="600"/>
              </a:spcAft>
              <a:buSzPct val="100000"/>
              <a:buChar char="•"/>
            </a:pPr>
            <a:r>
              <a:rPr lang="en-US" sz="1250" b="1" dirty="0">
                <a:solidFill>
                  <a:srgbClr val="222222"/>
                </a:solidFill>
                <a:latin typeface="Calibri" pitchFamily="34" charset="0"/>
                <a:ea typeface="Calibri" pitchFamily="34" charset="-122"/>
                <a:cs typeface="Calibri" pitchFamily="34" charset="-120"/>
              </a:rPr>
              <a:t>Closed-form sanity check: ignoring latency, c = 1 → Pr = √(P·M/N): the grid aspect ratio should match the output aspect ratio</a:t>
            </a:r>
            <a:endParaRPr lang="en-US" sz="1250" dirty="0"/>
          </a:p>
          <a:p>
            <a:pPr lvl="1" marL="381000" indent="-190500">
              <a:spcAft>
                <a:spcPts val="600"/>
              </a:spcAft>
              <a:buSzPct val="100000"/>
              <a:buChar char="•"/>
            </a:pPr>
            <a:r>
              <a:rPr lang="en-US" sz="1100" dirty="0">
                <a:solidFill>
                  <a:srgbClr val="222222"/>
                </a:solidFill>
                <a:latin typeface="Calibri" pitchFamily="34" charset="0"/>
                <a:ea typeface="Calibri" pitchFamily="34" charset="-122"/>
                <a:cs typeface="Calibri" pitchFamily="34" charset="-120"/>
              </a:rPr>
              <a:t>Enumerator reproduces it: M = 65536, N = K = 1024, P = 64  →  64 × 1</a:t>
            </a:r>
            <a:endParaRPr lang="en-US" sz="1250" dirty="0"/>
          </a:p>
          <a:p>
            <a:pPr marL="342900" indent="-342900">
              <a:spcAft>
                <a:spcPts val="600"/>
              </a:spcAft>
              <a:buSzPct val="100000"/>
              <a:buChar char="•"/>
            </a:pPr>
            <a:r>
              <a:rPr lang="en-US" sz="1250" b="1" dirty="0">
                <a:solidFill>
                  <a:srgbClr val="222222"/>
                </a:solidFill>
                <a:latin typeface="Calibri" pitchFamily="34" charset="0"/>
                <a:ea typeface="Calibri" pitchFamily="34" charset="-122"/>
                <a:cs typeface="Calibri" pitchFamily="34" charset="-120"/>
              </a:rPr>
              <a:t>α, β measured by ping-pong; γ by a panel-shaped run of the same kernel the run will use</a:t>
            </a:r>
            <a:endParaRPr lang="en-US" sz="1250" dirty="0"/>
          </a:p>
          <a:p>
            <a:pPr lvl="1" marL="381000" indent="-190500">
              <a:spcAft>
                <a:spcPts val="600"/>
              </a:spcAft>
              <a:buSzPct val="100000"/>
              <a:buChar char="•"/>
            </a:pPr>
            <a:r>
              <a:rPr lang="en-US" sz="1100" dirty="0">
                <a:solidFill>
                  <a:srgbClr val="222222"/>
                </a:solidFill>
                <a:latin typeface="Calibri" pitchFamily="34" charset="0"/>
                <a:ea typeface="Calibri" pitchFamily="34" charset="-122"/>
                <a:cs typeface="Calibri" pitchFamily="34" charset="-120"/>
              </a:rPr>
              <a:t>Note: b appears only in the latency term — the model says b is purely a latency-vs-buffer knob. We test that later.</a:t>
            </a:r>
            <a:endParaRPr lang="en-US" sz="1250" dirty="0"/>
          </a:p>
        </p:txBody>
      </p:sp>
      <p:sp>
        <p:nvSpPr>
          <p:cNvPr id="8" name="Text 6"/>
          <p:cNvSpPr txBox="1"/>
          <p:nvPr/>
        </p:nvSpPr>
        <p:spPr>
          <a:xfrm>
            <a:off x="7589520" y="4800600"/>
            <a:ext cx="1371600" cy="228600"/>
          </a:xfrm>
          <a:prstGeom prst="rect">
            <a:avLst/>
          </a:prstGeom>
          <a:noFill/>
          <a:ln/>
        </p:spPr>
        <p:txBody>
          <a:bodyPr wrap="square" lIns="0" tIns="0" rIns="0" bIns="0" rtlCol="0" anchor="ctr"/>
          <a:lstStyle/>
          <a:p>
            <a:pPr algn="r" indent="0" marL="0">
              <a:buNone/>
            </a:pPr>
            <a:r>
              <a:rPr lang="en-US" sz="900" dirty="0">
                <a:solidFill>
                  <a:srgbClr val="666666"/>
                </a:solidFill>
                <a:latin typeface="Calibri" pitchFamily="34" charset="0"/>
                <a:ea typeface="Calibri" pitchFamily="34" charset="-122"/>
                <a:cs typeface="Calibri" pitchFamily="34" charset="-120"/>
              </a:rPr>
              <a:t>gemm2d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Local kernel and verification</a:t>
            </a:r>
            <a:endParaRPr lang="en-US" sz="2400" dirty="0"/>
          </a:p>
        </p:txBody>
      </p:sp>
      <p:sp>
        <p:nvSpPr>
          <p:cNvPr id="3" name="Text 1"/>
          <p:cNvSpPr txBox="1"/>
          <p:nvPr/>
        </p:nvSpPr>
        <p:spPr>
          <a:xfrm>
            <a:off x="457200" y="1234440"/>
            <a:ext cx="402336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Three selectable kernels</a:t>
            </a:r>
            <a:endParaRPr lang="en-US" sz="1600" dirty="0"/>
          </a:p>
        </p:txBody>
      </p:sp>
      <p:sp>
        <p:nvSpPr>
          <p:cNvPr id="4" name="Text 2"/>
          <p:cNvSpPr txBox="1"/>
          <p:nvPr/>
        </p:nvSpPr>
        <p:spPr>
          <a:xfrm>
            <a:off x="457200" y="1645920"/>
            <a:ext cx="4023360" cy="2926080"/>
          </a:xfrm>
          <a:prstGeom prst="rect">
            <a:avLst/>
          </a:prstGeom>
          <a:noFill/>
          <a:ln/>
        </p:spPr>
        <p:txBody>
          <a:bodyPr wrap="square" lIns="0" tIns="0" rIns="0" bIns="0" rtlCol="0" anchor="t"/>
          <a:lstStyle/>
          <a:p>
            <a:pPr marL="342900" indent="-342900">
              <a:spcAft>
                <a:spcPts val="600"/>
              </a:spcAft>
              <a:buSzPct val="100000"/>
              <a:buChar char="•"/>
            </a:pPr>
            <a:r>
              <a:rPr lang="en-US" sz="1250" b="1" dirty="0">
                <a:solidFill>
                  <a:srgbClr val="222222"/>
                </a:solidFill>
                <a:latin typeface="Calibri" pitchFamily="34" charset="0"/>
                <a:ea typeface="Calibri" pitchFamily="34" charset="-122"/>
                <a:cs typeface="Calibri" pitchFamily="34" charset="-120"/>
              </a:rPr>
              <a:t>naive — textbook i-k-j loop</a:t>
            </a:r>
            <a:endParaRPr lang="en-US" sz="1250" dirty="0"/>
          </a:p>
          <a:p>
            <a:pPr marL="342900" indent="-342900">
              <a:spcAft>
                <a:spcPts val="600"/>
              </a:spcAft>
              <a:buSzPct val="100000"/>
              <a:buChar char="•"/>
            </a:pPr>
            <a:r>
              <a:rPr lang="en-US" sz="1250" b="1" dirty="0">
                <a:solidFill>
                  <a:srgbClr val="222222"/>
                </a:solidFill>
                <a:latin typeface="Calibri" pitchFamily="34" charset="0"/>
                <a:ea typeface="Calibri" pitchFamily="34" charset="-122"/>
                <a:cs typeface="Calibri" pitchFamily="34" charset="-120"/>
              </a:rPr>
              <a:t>blocked — (MC, KC, NC) cache tiling, operands read in place</a:t>
            </a:r>
            <a:endParaRPr lang="en-US" sz="1250" dirty="0"/>
          </a:p>
          <a:p>
            <a:pPr marL="342900" indent="-342900">
              <a:spcAft>
                <a:spcPts val="600"/>
              </a:spcAft>
              <a:buSzPct val="100000"/>
              <a:buChar char="•"/>
            </a:pPr>
            <a:r>
              <a:rPr lang="en-US" sz="1250" b="1" dirty="0">
                <a:solidFill>
                  <a:srgbClr val="222222"/>
                </a:solidFill>
                <a:latin typeface="Calibri" pitchFamily="34" charset="0"/>
                <a:ea typeface="Calibri" pitchFamily="34" charset="-122"/>
                <a:cs typeface="Calibri" pitchFamily="34" charset="-120"/>
              </a:rPr>
              <a:t>packed — A and B copied into contiguous 64-byte-aligned panels; 8×8 register tile kept in vector registers across the k loop</a:t>
            </a:r>
            <a:endParaRPr lang="en-US" sz="1250" dirty="0"/>
          </a:p>
          <a:p>
            <a:pPr lvl="1" marL="381000" indent="-190500">
              <a:spcAft>
                <a:spcPts val="600"/>
              </a:spcAft>
              <a:buSzPct val="100000"/>
              <a:buChar char="•"/>
            </a:pPr>
            <a:r>
              <a:rPr lang="en-US" sz="1100" dirty="0">
                <a:solidFill>
                  <a:srgbClr val="222222"/>
                </a:solidFill>
                <a:latin typeface="Calibri" pitchFamily="34" charset="0"/>
                <a:ea typeface="Calibri" pitchFamily="34" charset="-122"/>
                <a:cs typeface="Calibri" pitchFamily="34" charset="-120"/>
              </a:rPr>
              <a:t>Panels zero-padded → micro-kernel always computes a full tile, writes back only the live corner: no edge branch in the hot loop</a:t>
            </a:r>
            <a:endParaRPr lang="en-US" sz="1250" dirty="0"/>
          </a:p>
          <a:p>
            <a:pPr lvl="1" marL="381000" indent="-190500">
              <a:spcAft>
                <a:spcPts val="600"/>
              </a:spcAft>
              <a:buSzPct val="100000"/>
              <a:buChar char="•"/>
            </a:pPr>
            <a:r>
              <a:rPr lang="en-US" sz="1100" dirty="0">
                <a:solidFill>
                  <a:srgbClr val="222222"/>
                </a:solidFill>
                <a:latin typeface="Calibri" pitchFamily="34" charset="0"/>
                <a:ea typeface="Calibri" pitchFamily="34" charset="-122"/>
                <a:cs typeface="Calibri" pitchFamily="34" charset="-120"/>
              </a:rPr>
              <a:t>Threads own whole rows of C → no reduction, no false sharing</a:t>
            </a:r>
            <a:endParaRPr lang="en-US" sz="1250" dirty="0"/>
          </a:p>
        </p:txBody>
      </p:sp>
      <p:sp>
        <p:nvSpPr>
          <p:cNvPr id="5" name="Text 3"/>
          <p:cNvSpPr txBox="1"/>
          <p:nvPr/>
        </p:nvSpPr>
        <p:spPr>
          <a:xfrm>
            <a:off x="4754880" y="1234440"/>
            <a:ext cx="393192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Three verification layers</a:t>
            </a:r>
            <a:endParaRPr lang="en-US" sz="1600" dirty="0"/>
          </a:p>
        </p:txBody>
      </p:sp>
      <p:sp>
        <p:nvSpPr>
          <p:cNvPr id="6" name="Text 4"/>
          <p:cNvSpPr txBox="1"/>
          <p:nvPr/>
        </p:nvSpPr>
        <p:spPr>
          <a:xfrm>
            <a:off x="4754880" y="1645920"/>
            <a:ext cx="3931920" cy="2926080"/>
          </a:xfrm>
          <a:prstGeom prst="rect">
            <a:avLst/>
          </a:prstGeom>
          <a:noFill/>
          <a:ln/>
        </p:spPr>
        <p:txBody>
          <a:bodyPr wrap="square" lIns="0" tIns="0" rIns="0" bIns="0" rtlCol="0" anchor="t"/>
          <a:lstStyle/>
          <a:p>
            <a:pPr marL="342900" indent="-342900">
              <a:spcAft>
                <a:spcPts val="600"/>
              </a:spcAft>
              <a:buSzPct val="100000"/>
              <a:buChar char="•"/>
            </a:pPr>
            <a:r>
              <a:rPr lang="en-US" sz="1250" b="1" dirty="0">
                <a:solidFill>
                  <a:srgbClr val="222222"/>
                </a:solidFill>
                <a:latin typeface="Calibri" pitchFamily="34" charset="0"/>
                <a:ea typeface="Calibri" pitchFamily="34" charset="-122"/>
                <a:cs typeface="Calibri" pitchFamily="34" charset="-120"/>
              </a:rPr>
              <a:t>1. Exact check vs. sequential reference from the same generator</a:t>
            </a:r>
            <a:endParaRPr lang="en-US" sz="1250" dirty="0"/>
          </a:p>
          <a:p>
            <a:pPr lvl="1" marL="381000" indent="-190500">
              <a:spcAft>
                <a:spcPts val="600"/>
              </a:spcAft>
              <a:buSzPct val="100000"/>
              <a:buChar char="•"/>
            </a:pPr>
            <a:r>
              <a:rPr lang="en-US" sz="1100" dirty="0">
                <a:solidFill>
                  <a:srgbClr val="222222"/>
                </a:solidFill>
                <a:latin typeface="Calibri" pitchFamily="34" charset="0"/>
                <a:ea typeface="Calibri" pitchFamily="34" charset="-122"/>
                <a:cs typeface="Calibri" pitchFamily="34" charset="-120"/>
              </a:rPr>
              <a:t>43-case suite: P ∈ {1…9} incl. primes, 61×53×47, 1×8 and 8×1 grids, P &gt; M, α,β ≠ 1,0, b from 1 to 4096</a:t>
            </a:r>
            <a:endParaRPr lang="en-US" sz="1250" dirty="0"/>
          </a:p>
          <a:p>
            <a:pPr marL="342900" indent="-342900">
              <a:spcAft>
                <a:spcPts val="600"/>
              </a:spcAft>
              <a:buSzPct val="100000"/>
              <a:buChar char="•"/>
            </a:pPr>
            <a:r>
              <a:rPr lang="en-US" sz="1250" b="1" dirty="0">
                <a:solidFill>
                  <a:srgbClr val="222222"/>
                </a:solidFill>
                <a:latin typeface="Calibri" pitchFamily="34" charset="0"/>
                <a:ea typeface="Calibri" pitchFamily="34" charset="-122"/>
                <a:cs typeface="Calibri" pitchFamily="34" charset="-120"/>
              </a:rPr>
              <a:t>2. Norm-wise residual — never a floating-point equality test</a:t>
            </a:r>
            <a:endParaRPr lang="en-US" sz="1250" dirty="0"/>
          </a:p>
          <a:p>
            <a:pPr marL="342900" indent="-342900">
              <a:spcAft>
                <a:spcPts val="600"/>
              </a:spcAft>
              <a:buSzPct val="100000"/>
              <a:buChar char="•"/>
            </a:pPr>
            <a:r>
              <a:rPr lang="en-US" sz="1250" b="1" dirty="0">
                <a:solidFill>
                  <a:srgbClr val="222222"/>
                </a:solidFill>
                <a:latin typeface="Calibri" pitchFamily="34" charset="0"/>
                <a:ea typeface="Calibri" pitchFamily="34" charset="-122"/>
                <a:cs typeface="Calibri" pitchFamily="34" charset="-120"/>
              </a:rPr>
              <a:t>3. Distributed Freivalds test: random r, check A(Br) ≈ Cr in O(n²)</a:t>
            </a:r>
            <a:endParaRPr lang="en-US" sz="1250" dirty="0"/>
          </a:p>
          <a:p>
            <a:pPr lvl="1" marL="381000" indent="-190500">
              <a:spcAft>
                <a:spcPts val="600"/>
              </a:spcAft>
              <a:buSzPct val="100000"/>
              <a:buChar char="•"/>
            </a:pPr>
            <a:r>
              <a:rPr lang="en-US" sz="1100" dirty="0">
                <a:solidFill>
                  <a:srgbClr val="222222"/>
                </a:solidFill>
                <a:latin typeface="Calibri" pitchFamily="34" charset="0"/>
                <a:ea typeface="Calibri" pitchFamily="34" charset="-122"/>
                <a:cs typeface="Calibri" pitchFamily="34" charset="-120"/>
              </a:rPr>
              <a:t>Cheap enough to leave on in production runs; vectors are O(n) and simply replicated</a:t>
            </a:r>
            <a:endParaRPr lang="en-US" sz="1250" dirty="0"/>
          </a:p>
        </p:txBody>
      </p:sp>
      <p:sp>
        <p:nvSpPr>
          <p:cNvPr id="7" name="Text 5"/>
          <p:cNvSpPr txBox="1"/>
          <p:nvPr/>
        </p:nvSpPr>
        <p:spPr>
          <a:xfrm>
            <a:off x="7589520" y="4800600"/>
            <a:ext cx="1371600" cy="228600"/>
          </a:xfrm>
          <a:prstGeom prst="rect">
            <a:avLst/>
          </a:prstGeom>
          <a:noFill/>
          <a:ln/>
        </p:spPr>
        <p:txBody>
          <a:bodyPr wrap="square" lIns="0" tIns="0" rIns="0" bIns="0" rtlCol="0" anchor="ctr"/>
          <a:lstStyle/>
          <a:p>
            <a:pPr algn="r" indent="0" marL="0">
              <a:buNone/>
            </a:pPr>
            <a:r>
              <a:rPr lang="en-US" sz="900" dirty="0">
                <a:solidFill>
                  <a:srgbClr val="666666"/>
                </a:solidFill>
                <a:latin typeface="Calibri" pitchFamily="34" charset="0"/>
                <a:ea typeface="Calibri" pitchFamily="34" charset="-122"/>
                <a:cs typeface="Calibri" pitchFamily="34" charset="-120"/>
              </a:rPr>
              <a:t>gemm2d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Experimental setup</a:t>
            </a:r>
            <a:endParaRPr lang="en-US" sz="2400" dirty="0"/>
          </a:p>
        </p:txBody>
      </p:sp>
      <p:sp>
        <p:nvSpPr>
          <p:cNvPr id="3" name="Text 1"/>
          <p:cNvSpPr txBox="1"/>
          <p:nvPr/>
        </p:nvSpPr>
        <p:spPr>
          <a:xfrm>
            <a:off x="457200" y="1234440"/>
            <a:ext cx="265176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Measurement platform</a:t>
            </a:r>
            <a:endParaRPr lang="en-US" sz="1500" dirty="0"/>
          </a:p>
        </p:txBody>
      </p:sp>
      <p:sp>
        <p:nvSpPr>
          <p:cNvPr id="4" name="Text 2"/>
          <p:cNvSpPr txBox="1"/>
          <p:nvPr/>
        </p:nvSpPr>
        <p:spPr>
          <a:xfrm>
            <a:off x="457200" y="1645920"/>
            <a:ext cx="2651760" cy="30175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222222"/>
                </a:solidFill>
                <a:latin typeface="Calibri" pitchFamily="34" charset="0"/>
                <a:ea typeface="Calibri" pitchFamily="34" charset="-122"/>
                <a:cs typeface="Calibri" pitchFamily="34" charset="-120"/>
              </a:rPr>
              <a:t>Single node: Intel Xeon 2.8 GHz, 4 physical cores, AVX-512, 15 GB RAM</a:t>
            </a:r>
            <a:endParaRPr lang="en-US" sz="1150" dirty="0"/>
          </a:p>
          <a:p>
            <a:pPr marL="342900" indent="-342900">
              <a:spcAft>
                <a:spcPts val="600"/>
              </a:spcAft>
              <a:buSzPct val="100000"/>
              <a:buChar char="•"/>
            </a:pPr>
            <a:r>
              <a:rPr lang="en-US" sz="1150" dirty="0">
                <a:solidFill>
                  <a:srgbClr val="222222"/>
                </a:solidFill>
                <a:latin typeface="Calibri" pitchFamily="34" charset="0"/>
                <a:ea typeface="Calibri" pitchFamily="34" charset="-122"/>
                <a:cs typeface="Calibri" pitchFamily="34" charset="-120"/>
              </a:rPr>
              <a:t>Ubuntu 24.04, GCC 13.3.0, Open MPI 4.1.6</a:t>
            </a:r>
            <a:endParaRPr lang="en-US" sz="1150" dirty="0"/>
          </a:p>
          <a:p>
            <a:pPr marL="342900" indent="-342900">
              <a:spcAft>
                <a:spcPts val="600"/>
              </a:spcAft>
              <a:buSzPct val="100000"/>
              <a:buChar char="•"/>
            </a:pPr>
            <a:r>
              <a:rPr lang="en-US" sz="1150" dirty="0">
                <a:solidFill>
                  <a:srgbClr val="222222"/>
                </a:solidFill>
                <a:latin typeface="Calibri" pitchFamily="34" charset="0"/>
                <a:ea typeface="Calibri" pitchFamily="34" charset="-122"/>
                <a:cs typeface="Calibri" pitchFamily="34" charset="-120"/>
              </a:rPr>
              <a:t>Ranks bound to cores, never oversubscribed</a:t>
            </a:r>
            <a:endParaRPr lang="en-US" sz="1150" dirty="0"/>
          </a:p>
          <a:p>
            <a:pPr lvl="1" marL="381000" indent="-190500">
              <a:spcAft>
                <a:spcPts val="600"/>
              </a:spcAft>
              <a:buSzPct val="100000"/>
              <a:buChar char="•"/>
            </a:pPr>
            <a:r>
              <a:rPr lang="en-US" sz="1000" dirty="0">
                <a:solidFill>
                  <a:srgbClr val="222222"/>
                </a:solidFill>
                <a:latin typeface="Calibri" pitchFamily="34" charset="0"/>
                <a:ea typeface="Calibri" pitchFamily="34" charset="-122"/>
                <a:cs typeface="Calibri" pitchFamily="34" charset="-120"/>
              </a:rPr>
              <a:t>Target: UniTN HPC cluster (~200 nodes, 15,284 cores, Omni-Path subset); 4 exclusive 72-core Xeon 6140M nodes per job, CPU type and network pinned</a:t>
            </a:r>
            <a:endParaRPr lang="en-US" sz="1150" dirty="0"/>
          </a:p>
        </p:txBody>
      </p:sp>
      <p:sp>
        <p:nvSpPr>
          <p:cNvPr id="5" name="Text 3"/>
          <p:cNvSpPr txBox="1"/>
          <p:nvPr/>
        </p:nvSpPr>
        <p:spPr>
          <a:xfrm>
            <a:off x="3246120" y="1234440"/>
            <a:ext cx="265176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Build</a:t>
            </a:r>
            <a:endParaRPr lang="en-US" sz="1500" dirty="0"/>
          </a:p>
        </p:txBody>
      </p:sp>
      <p:sp>
        <p:nvSpPr>
          <p:cNvPr id="6" name="Text 4"/>
          <p:cNvSpPr txBox="1"/>
          <p:nvPr/>
        </p:nvSpPr>
        <p:spPr>
          <a:xfrm>
            <a:off x="3246120" y="1645920"/>
            <a:ext cx="2651760" cy="30175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222222"/>
                </a:solidFill>
                <a:latin typeface="Calibri" pitchFamily="34" charset="0"/>
                <a:ea typeface="Calibri" pitchFamily="34" charset="-122"/>
                <a:cs typeface="Calibri" pitchFamily="34" charset="-120"/>
              </a:rPr>
              <a:t>-O3 -march=native -funroll-loops -ffp-contract=fast -fopenmp</a:t>
            </a:r>
            <a:endParaRPr lang="en-US" sz="1150" dirty="0"/>
          </a:p>
          <a:p>
            <a:pPr marL="342900" indent="-342900">
              <a:spcAft>
                <a:spcPts val="600"/>
              </a:spcAft>
              <a:buSzPct val="100000"/>
              <a:buChar char="•"/>
            </a:pPr>
            <a:r>
              <a:rPr lang="en-US" sz="1150" dirty="0">
                <a:solidFill>
                  <a:srgbClr val="222222"/>
                </a:solidFill>
                <a:latin typeface="Calibri" pitchFamily="34" charset="0"/>
                <a:ea typeface="Calibri" pitchFamily="34" charset="-122"/>
                <a:cs typeface="Calibri" pitchFamily="34" charset="-120"/>
              </a:rPr>
              <a:t>FMA contraction is disabled by GCC under -std=c11 — costs ~20%</a:t>
            </a:r>
            <a:endParaRPr lang="en-US" sz="1150" dirty="0"/>
          </a:p>
          <a:p>
            <a:pPr lvl="1" marL="381000" indent="-190500">
              <a:spcAft>
                <a:spcPts val="600"/>
              </a:spcAft>
              <a:buSzPct val="100000"/>
              <a:buChar char="•"/>
            </a:pPr>
            <a:r>
              <a:rPr lang="en-US" sz="1000" dirty="0">
                <a:solidFill>
                  <a:srgbClr val="222222"/>
                </a:solidFill>
                <a:latin typeface="Calibri" pitchFamily="34" charset="0"/>
                <a:ea typeface="Calibri" pitchFamily="34" charset="-122"/>
                <a:cs typeface="Calibri" pitchFamily="34" charset="-120"/>
              </a:rPr>
              <a:t>-ffp-contract=fast is far weaker than -ffast-math (no reassociation) but changes the last bit; disclosed, not hidden</a:t>
            </a:r>
            <a:endParaRPr lang="en-US" sz="1150" dirty="0"/>
          </a:p>
        </p:txBody>
      </p:sp>
      <p:sp>
        <p:nvSpPr>
          <p:cNvPr id="7" name="Text 5"/>
          <p:cNvSpPr txBox="1"/>
          <p:nvPr/>
        </p:nvSpPr>
        <p:spPr>
          <a:xfrm>
            <a:off x="6035040" y="1234440"/>
            <a:ext cx="265176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Protocol</a:t>
            </a:r>
            <a:endParaRPr lang="en-US" sz="1500" dirty="0"/>
          </a:p>
        </p:txBody>
      </p:sp>
      <p:sp>
        <p:nvSpPr>
          <p:cNvPr id="8" name="Text 6"/>
          <p:cNvSpPr txBox="1"/>
          <p:nvPr/>
        </p:nvSpPr>
        <p:spPr>
          <a:xfrm>
            <a:off x="6035040" y="1645920"/>
            <a:ext cx="2651760" cy="30175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222222"/>
                </a:solidFill>
                <a:latin typeface="Calibri" pitchFamily="34" charset="0"/>
                <a:ea typeface="Calibri" pitchFamily="34" charset="-122"/>
                <a:cs typeface="Calibri" pitchFamily="34" charset="-120"/>
              </a:rPr>
              <a:t>10 reps per config, each a separate launch with one untimed warm-up</a:t>
            </a:r>
            <a:endParaRPr lang="en-US" sz="1150" dirty="0"/>
          </a:p>
          <a:p>
            <a:pPr marL="342900" indent="-342900">
              <a:spcAft>
                <a:spcPts val="600"/>
              </a:spcAft>
              <a:buSzPct val="100000"/>
              <a:buChar char="•"/>
            </a:pPr>
            <a:r>
              <a:rPr lang="en-US" sz="1150" dirty="0">
                <a:solidFill>
                  <a:srgbClr val="222222"/>
                </a:solidFill>
                <a:latin typeface="Calibri" pitchFamily="34" charset="0"/>
                <a:ea typeface="Calibri" pitchFamily="34" charset="-122"/>
                <a:cs typeface="Calibri" pitchFamily="34" charset="-120"/>
              </a:rPr>
              <a:t>MPI_Barrier, then MPI_Wtime per rank, reduced with MPI_MAX</a:t>
            </a:r>
            <a:endParaRPr lang="en-US" sz="1150" dirty="0"/>
          </a:p>
          <a:p>
            <a:pPr marL="342900" indent="-342900">
              <a:spcAft>
                <a:spcPts val="600"/>
              </a:spcAft>
              <a:buSzPct val="100000"/>
              <a:buChar char="•"/>
            </a:pPr>
            <a:r>
              <a:rPr lang="en-US" sz="1150" dirty="0">
                <a:solidFill>
                  <a:srgbClr val="222222"/>
                </a:solidFill>
                <a:latin typeface="Calibri" pitchFamily="34" charset="0"/>
                <a:ea typeface="Calibri" pitchFamily="34" charset="-122"/>
                <a:cs typeface="Calibri" pitchFamily="34" charset="-120"/>
              </a:rPr>
              <a:t>Configs interleaved across the sweep, not run back-to-back</a:t>
            </a:r>
            <a:endParaRPr lang="en-US" sz="1150" dirty="0"/>
          </a:p>
          <a:p>
            <a:pPr marL="342900" indent="-342900">
              <a:spcAft>
                <a:spcPts val="600"/>
              </a:spcAft>
              <a:buSzPct val="100000"/>
              <a:buChar char="•"/>
            </a:pPr>
            <a:r>
              <a:rPr lang="en-US" sz="1150" dirty="0">
                <a:solidFill>
                  <a:srgbClr val="222222"/>
                </a:solidFill>
                <a:latin typeface="Calibri" pitchFamily="34" charset="0"/>
                <a:ea typeface="Calibri" pitchFamily="34" charset="-122"/>
                <a:cs typeface="Calibri" pitchFamily="34" charset="-120"/>
              </a:rPr>
              <a:t>One CSV row per rep; medians + bootstrap 95% CI computed afterwards; harmonic mean for rates; no outliers removed</a:t>
            </a:r>
            <a:endParaRPr lang="en-US" sz="1150" dirty="0"/>
          </a:p>
          <a:p>
            <a:pPr lvl="1" marL="381000" indent="-190500">
              <a:spcAft>
                <a:spcPts val="600"/>
              </a:spcAft>
              <a:buSzPct val="100000"/>
              <a:buChar char="•"/>
            </a:pPr>
            <a:r>
              <a:rPr lang="en-US" sz="1000" dirty="0">
                <a:solidFill>
                  <a:srgbClr val="222222"/>
                </a:solidFill>
                <a:latin typeface="Calibri" pitchFamily="34" charset="0"/>
                <a:ea typeface="Calibri" pitchFamily="34" charset="-122"/>
                <a:cs typeface="Calibri" pitchFamily="34" charset="-120"/>
              </a:rPr>
              <a:t>Each run sized to O(0.1 s) — shorter runs measure launch jitter</a:t>
            </a:r>
            <a:endParaRPr lang="en-US" sz="1150" dirty="0"/>
          </a:p>
        </p:txBody>
      </p:sp>
      <p:sp>
        <p:nvSpPr>
          <p:cNvPr id="9" name="Text 7"/>
          <p:cNvSpPr txBox="1"/>
          <p:nvPr/>
        </p:nvSpPr>
        <p:spPr>
          <a:xfrm>
            <a:off x="7589520" y="4800600"/>
            <a:ext cx="1371600" cy="228600"/>
          </a:xfrm>
          <a:prstGeom prst="rect">
            <a:avLst/>
          </a:prstGeom>
          <a:noFill/>
          <a:ln/>
        </p:spPr>
        <p:txBody>
          <a:bodyPr wrap="square" lIns="0" tIns="0" rIns="0" bIns="0" rtlCol="0" anchor="ctr"/>
          <a:lstStyle/>
          <a:p>
            <a:pPr algn="r" indent="0" marL="0">
              <a:buNone/>
            </a:pPr>
            <a:r>
              <a:rPr lang="en-US" sz="900" dirty="0">
                <a:solidFill>
                  <a:srgbClr val="666666"/>
                </a:solidFill>
                <a:latin typeface="Calibri" pitchFamily="34" charset="0"/>
                <a:ea typeface="Calibri" pitchFamily="34" charset="-122"/>
                <a:cs typeface="Calibri" pitchFamily="34" charset="-120"/>
              </a:rPr>
              <a:t>gemm2d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Result 1 — the kernel decides what we can measure</a:t>
            </a:r>
            <a:endParaRPr lang="en-US" sz="2400" dirty="0"/>
          </a:p>
        </p:txBody>
      </p:sp>
      <p:pic>
        <p:nvPicPr>
          <p:cNvPr id="3" name="Image 0" descr="/home/user/parallel-programming-project/plots/kernel_ablation.png">    </p:cNvPr>
          <p:cNvPicPr>
            <a:picLocks noChangeAspect="1"/>
          </p:cNvPicPr>
          <p:nvPr/>
        </p:nvPicPr>
        <p:blipFill>
          <a:blip r:embed="rId1"/>
          <a:srcRect l="0" r="0" t="0" b="0"/>
          <a:stretch/>
        </p:blipFill>
        <p:spPr>
          <a:xfrm>
            <a:off x="365760" y="1234440"/>
            <a:ext cx="3200400" cy="2148840"/>
          </a:xfrm>
          <a:prstGeom prst="rect">
            <a:avLst/>
          </a:prstGeom>
        </p:spPr>
      </p:pic>
      <p:pic>
        <p:nvPicPr>
          <p:cNvPr id="4" name="Image 1" descr="/home/user/parallel-programming-project/plots/roofline.png">    </p:cNvPr>
          <p:cNvPicPr>
            <a:picLocks noChangeAspect="1"/>
          </p:cNvPicPr>
          <p:nvPr/>
        </p:nvPicPr>
        <p:blipFill>
          <a:blip r:embed="rId2"/>
          <a:srcRect l="0" r="0" t="0" b="0"/>
          <a:stretch/>
        </p:blipFill>
        <p:spPr>
          <a:xfrm>
            <a:off x="3566160" y="1234440"/>
            <a:ext cx="2926080" cy="2148840"/>
          </a:xfrm>
          <a:prstGeom prst="rect">
            <a:avLst/>
          </a:prstGeom>
        </p:spPr>
      </p:pic>
      <p:sp>
        <p:nvSpPr>
          <p:cNvPr id="5" name="Shape 1"/>
          <p:cNvSpPr/>
          <p:nvPr/>
        </p:nvSpPr>
        <p:spPr>
          <a:xfrm>
            <a:off x="6675120" y="1280160"/>
            <a:ext cx="2103120" cy="1143000"/>
          </a:xfrm>
          <a:prstGeom prst="roundRect">
            <a:avLst>
              <a:gd name="adj" fmla="val 6400"/>
            </a:avLst>
          </a:prstGeom>
          <a:solidFill>
            <a:srgbClr val="F2F4F8"/>
          </a:solidFill>
          <a:ln w="12700">
            <a:solidFill>
              <a:srgbClr val="F2F4F8"/>
            </a:solidFill>
            <a:prstDash val="solid"/>
          </a:ln>
        </p:spPr>
      </p:sp>
      <p:sp>
        <p:nvSpPr>
          <p:cNvPr id="6" name="Text 2"/>
          <p:cNvSpPr txBox="1"/>
          <p:nvPr/>
        </p:nvSpPr>
        <p:spPr>
          <a:xfrm>
            <a:off x="6675120" y="1371600"/>
            <a:ext cx="2103120" cy="594360"/>
          </a:xfrm>
          <a:prstGeom prst="rect">
            <a:avLst/>
          </a:prstGeom>
          <a:noFill/>
          <a:ln/>
        </p:spPr>
        <p:txBody>
          <a:bodyPr wrap="square" lIns="0" tIns="0" rIns="0" bIns="0" rtlCol="0" anchor="ctr"/>
          <a:lstStyle/>
          <a:p>
            <a:pPr algn="ctr" indent="0" marL="0">
              <a:buNone/>
            </a:pPr>
            <a:r>
              <a:rPr lang="en-US" sz="3000" b="1" dirty="0">
                <a:solidFill>
                  <a:srgbClr val="C8102E"/>
                </a:solidFill>
                <a:latin typeface="Calibri" pitchFamily="34" charset="0"/>
                <a:ea typeface="Calibri" pitchFamily="34" charset="-122"/>
                <a:cs typeface="Calibri" pitchFamily="34" charset="-120"/>
              </a:rPr>
              <a:t>30.6</a:t>
            </a:r>
            <a:endParaRPr lang="en-US" sz="3000" dirty="0"/>
          </a:p>
        </p:txBody>
      </p:sp>
      <p:sp>
        <p:nvSpPr>
          <p:cNvPr id="7" name="Text 3"/>
          <p:cNvSpPr txBox="1"/>
          <p:nvPr/>
        </p:nvSpPr>
        <p:spPr>
          <a:xfrm>
            <a:off x="6766560" y="1965960"/>
            <a:ext cx="1920240" cy="411480"/>
          </a:xfrm>
          <a:prstGeom prst="rect">
            <a:avLst/>
          </a:prstGeom>
          <a:noFill/>
          <a:ln/>
        </p:spPr>
        <p:txBody>
          <a:bodyPr wrap="square" lIns="0" tIns="0" rIns="0" bIns="0" rtlCol="0" anchor="ctr"/>
          <a:lstStyle/>
          <a:p>
            <a:pPr algn="ctr" indent="0" marL="0">
              <a:buNone/>
            </a:pPr>
            <a:r>
              <a:rPr lang="en-US" sz="1100" dirty="0">
                <a:solidFill>
                  <a:srgbClr val="666666"/>
                </a:solidFill>
                <a:latin typeface="Calibri" pitchFamily="34" charset="0"/>
                <a:ea typeface="Calibri" pitchFamily="34" charset="-122"/>
                <a:cs typeface="Calibri" pitchFamily="34" charset="-120"/>
              </a:rPr>
              <a:t>Gflop/s, packed, 1 core (naive 7.55, tiled 9.83)</a:t>
            </a:r>
            <a:endParaRPr lang="en-US" sz="1100" dirty="0"/>
          </a:p>
        </p:txBody>
      </p:sp>
      <p:sp>
        <p:nvSpPr>
          <p:cNvPr id="8" name="Shape 4"/>
          <p:cNvSpPr/>
          <p:nvPr/>
        </p:nvSpPr>
        <p:spPr>
          <a:xfrm>
            <a:off x="6675120" y="2560320"/>
            <a:ext cx="2103120" cy="1143000"/>
          </a:xfrm>
          <a:prstGeom prst="roundRect">
            <a:avLst>
              <a:gd name="adj" fmla="val 6400"/>
            </a:avLst>
          </a:prstGeom>
          <a:solidFill>
            <a:srgbClr val="F2F4F8"/>
          </a:solidFill>
          <a:ln w="12700">
            <a:solidFill>
              <a:srgbClr val="F2F4F8"/>
            </a:solidFill>
            <a:prstDash val="solid"/>
          </a:ln>
        </p:spPr>
      </p:sp>
      <p:sp>
        <p:nvSpPr>
          <p:cNvPr id="9" name="Text 5"/>
          <p:cNvSpPr txBox="1"/>
          <p:nvPr/>
        </p:nvSpPr>
        <p:spPr>
          <a:xfrm>
            <a:off x="6675120" y="2651760"/>
            <a:ext cx="2103120" cy="594360"/>
          </a:xfrm>
          <a:prstGeom prst="rect">
            <a:avLst/>
          </a:prstGeom>
          <a:noFill/>
          <a:ln/>
        </p:spPr>
        <p:txBody>
          <a:bodyPr wrap="square" lIns="0" tIns="0" rIns="0" bIns="0" rtlCol="0" anchor="ctr"/>
          <a:lstStyle/>
          <a:p>
            <a:pPr algn="ctr" indent="0" marL="0">
              <a:buNone/>
            </a:pPr>
            <a:r>
              <a:rPr lang="en-US" sz="3000" b="1" dirty="0">
                <a:solidFill>
                  <a:srgbClr val="C8102E"/>
                </a:solidFill>
                <a:latin typeface="Calibri" pitchFamily="34" charset="0"/>
                <a:ea typeface="Calibri" pitchFamily="34" charset="-122"/>
                <a:cs typeface="Calibri" pitchFamily="34" charset="-120"/>
              </a:rPr>
              <a:t>4.05×</a:t>
            </a:r>
            <a:endParaRPr lang="en-US" sz="3000" dirty="0"/>
          </a:p>
        </p:txBody>
      </p:sp>
      <p:sp>
        <p:nvSpPr>
          <p:cNvPr id="10" name="Text 6"/>
          <p:cNvSpPr txBox="1"/>
          <p:nvPr/>
        </p:nvSpPr>
        <p:spPr>
          <a:xfrm>
            <a:off x="6766560" y="3246120"/>
            <a:ext cx="1920240" cy="411480"/>
          </a:xfrm>
          <a:prstGeom prst="rect">
            <a:avLst/>
          </a:prstGeom>
          <a:noFill/>
          <a:ln/>
        </p:spPr>
        <p:txBody>
          <a:bodyPr wrap="square" lIns="0" tIns="0" rIns="0" bIns="0" rtlCol="0" anchor="ctr"/>
          <a:lstStyle/>
          <a:p>
            <a:pPr algn="ctr" indent="0" marL="0">
              <a:buNone/>
            </a:pPr>
            <a:r>
              <a:rPr lang="en-US" sz="1100" dirty="0">
                <a:solidFill>
                  <a:srgbClr val="666666"/>
                </a:solidFill>
                <a:latin typeface="Calibri" pitchFamily="34" charset="0"/>
                <a:ea typeface="Calibri" pitchFamily="34" charset="-122"/>
                <a:cs typeface="Calibri" pitchFamily="34" charset="-120"/>
              </a:rPr>
              <a:t>over naive · 46% of OpenBLAS · 34% of 2-FMA peak</a:t>
            </a:r>
            <a:endParaRPr lang="en-US" sz="1100" dirty="0"/>
          </a:p>
        </p:txBody>
      </p:sp>
      <p:sp>
        <p:nvSpPr>
          <p:cNvPr id="11" name="Text 7"/>
          <p:cNvSpPr txBox="1"/>
          <p:nvPr/>
        </p:nvSpPr>
        <p:spPr>
          <a:xfrm>
            <a:off x="457200" y="3840480"/>
            <a:ext cx="8229600" cy="914400"/>
          </a:xfrm>
          <a:prstGeom prst="rect">
            <a:avLst/>
          </a:prstGeom>
          <a:noFill/>
          <a:ln/>
        </p:spPr>
        <p:txBody>
          <a:bodyPr wrap="square" lIns="0" tIns="0" rIns="0" bIns="0" rtlCol="0" anchor="t"/>
          <a:lstStyle/>
          <a:p>
            <a:pPr marL="342900" indent="-342900">
              <a:spcAft>
                <a:spcPts val="600"/>
              </a:spcAft>
              <a:buSzPct val="100000"/>
              <a:buChar char="•"/>
            </a:pPr>
            <a:r>
              <a:rPr lang="en-US" sz="1050" b="1" dirty="0">
                <a:solidFill>
                  <a:srgbClr val="222222"/>
                </a:solidFill>
                <a:latin typeface="Calibri" pitchFamily="34" charset="0"/>
                <a:ea typeface="Calibri" pitchFamily="34" charset="-122"/>
                <a:cs typeface="Calibri" pitchFamily="34" charset="-120"/>
              </a:rPr>
              <a:t>M = N = 1024, K = 256 — one SUMMA panel. Flat thread scaling is a property of this 4-core node, not of the kernel.</a:t>
            </a:r>
            <a:endParaRPr lang="en-US" sz="1050" dirty="0"/>
          </a:p>
          <a:p>
            <a:pPr marL="342900" indent="-342900">
              <a:spcAft>
                <a:spcPts val="600"/>
              </a:spcAft>
              <a:buSzPct val="100000"/>
              <a:buChar char="•"/>
            </a:pPr>
            <a:r>
              <a:rPr lang="en-US" sz="1050" b="1" dirty="0">
                <a:solidFill>
                  <a:srgbClr val="222222"/>
                </a:solidFill>
                <a:latin typeface="Calibri" pitchFamily="34" charset="0"/>
                <a:ea typeface="Calibri" pitchFamily="34" charset="-122"/>
                <a:cs typeface="Calibri" pitchFamily="34" charset="-120"/>
              </a:rPr>
              <a:t>Roofline: STREAM 11.9 GB/s → ridge at 5.6 flop/byte; this shape has 25.6. All kernels sit 4× past the ridge — the shortfall is vectorisation, not bandwidth. Gap to OpenBLAS is 2.2×, not an order of magnitude.</a:t>
            </a:r>
            <a:endParaRPr lang="en-US" sz="1050" dirty="0"/>
          </a:p>
        </p:txBody>
      </p:sp>
      <p:sp>
        <p:nvSpPr>
          <p:cNvPr id="12" name="Text 8"/>
          <p:cNvSpPr txBox="1"/>
          <p:nvPr/>
        </p:nvSpPr>
        <p:spPr>
          <a:xfrm>
            <a:off x="7589520" y="4800600"/>
            <a:ext cx="1371600" cy="228600"/>
          </a:xfrm>
          <a:prstGeom prst="rect">
            <a:avLst/>
          </a:prstGeom>
          <a:noFill/>
          <a:ln/>
        </p:spPr>
        <p:txBody>
          <a:bodyPr wrap="square" lIns="0" tIns="0" rIns="0" bIns="0" rtlCol="0" anchor="ctr"/>
          <a:lstStyle/>
          <a:p>
            <a:pPr algn="r" indent="0" marL="0">
              <a:buNone/>
            </a:pPr>
            <a:r>
              <a:rPr lang="en-US" sz="900" dirty="0">
                <a:solidFill>
                  <a:srgbClr val="666666"/>
                </a:solidFill>
                <a:latin typeface="Calibri" pitchFamily="34" charset="0"/>
                <a:ea typeface="Calibri" pitchFamily="34" charset="-122"/>
                <a:cs typeface="Calibri" pitchFamily="34" charset="-120"/>
              </a:rPr>
              <a:t>gemm2d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Result 2 — the planner earns its place on skewed shapes</a:t>
            </a:r>
            <a:endParaRPr lang="en-US" sz="2400" dirty="0"/>
          </a:p>
        </p:txBody>
      </p:sp>
      <p:pic>
        <p:nvPicPr>
          <p:cNvPr id="3" name="Image 0" descr="/home/user/parallel-programming-project/plots/planner_shapes.png">    </p:cNvPr>
          <p:cNvPicPr>
            <a:picLocks noChangeAspect="1"/>
          </p:cNvPicPr>
          <p:nvPr/>
        </p:nvPicPr>
        <p:blipFill>
          <a:blip r:embed="rId1"/>
          <a:srcRect l="0" r="0" t="0" b="0"/>
          <a:stretch/>
        </p:blipFill>
        <p:spPr>
          <a:xfrm>
            <a:off x="457200" y="1234440"/>
            <a:ext cx="4846320" cy="3200400"/>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0" y="1280160"/>
          <a:ext cx="3200400" cy="914400"/>
        </p:xfrm>
        <a:graphic>
          <a:graphicData uri="http://schemas.openxmlformats.org/drawingml/2006/table">
            <a:tbl>
              <a:tblPr/>
              <a:tblGrid>
                <a:gridCol w="1188720"/>
                <a:gridCol w="1051560"/>
                <a:gridCol w="960120"/>
              </a:tblGrid>
              <a:tr h="310896">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Shape</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Planner picks</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vs fixed 2×2</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r>
              <a:tr h="310896">
                <a:tc>
                  <a:txBody>
                    <a:bodyPr/>
                    <a:lstStyle/>
                    <a:p>
                      <a:pPr indent="0" marL="0">
                        <a:buNone/>
                      </a:pPr>
                      <a:r>
                        <a:rPr lang="en-US" sz="950" dirty="0">
                          <a:solidFill>
                            <a:srgbClr val="222222"/>
                          </a:solidFill>
                          <a:latin typeface="Calibri" pitchFamily="34" charset="0"/>
                          <a:ea typeface="Calibri" pitchFamily="34" charset="-122"/>
                          <a:cs typeface="Calibri" pitchFamily="34" charset="-120"/>
                        </a:rPr>
                        <a:t>short-fat (K = 32768)</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22222"/>
                          </a:solidFill>
                          <a:latin typeface="Calibri" pitchFamily="34" charset="0"/>
                          <a:ea typeface="Calibri" pitchFamily="34" charset="-122"/>
                          <a:cs typeface="Calibri" pitchFamily="34" charset="-120"/>
                        </a:rPr>
                        <a:t>1×1×4  (pure k-parallel)</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22222"/>
                          </a:solidFill>
                          <a:latin typeface="Calibri" pitchFamily="34" charset="0"/>
                          <a:ea typeface="Calibri" pitchFamily="34" charset="-122"/>
                          <a:cs typeface="Calibri" pitchFamily="34" charset="-120"/>
                        </a:rPr>
                        <a:t>1.36×  ✓</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10896">
                <a:tc>
                  <a:txBody>
                    <a:bodyPr/>
                    <a:lstStyle/>
                    <a:p>
                      <a:pPr indent="0" marL="0">
                        <a:buNone/>
                      </a:pPr>
                      <a:r>
                        <a:rPr lang="en-US" sz="950" dirty="0">
                          <a:solidFill>
                            <a:srgbClr val="222222"/>
                          </a:solidFill>
                          <a:latin typeface="Calibri" pitchFamily="34" charset="0"/>
                          <a:ea typeface="Calibri" pitchFamily="34" charset="-122"/>
                          <a:cs typeface="Calibri" pitchFamily="34" charset="-120"/>
                        </a:rPr>
                        <a:t>wide B (M ≪ N)</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22222"/>
                          </a:solidFill>
                          <a:latin typeface="Calibri" pitchFamily="34" charset="0"/>
                          <a:ea typeface="Calibri" pitchFamily="34" charset="-122"/>
                          <a:cs typeface="Calibri" pitchFamily="34" charset="-120"/>
                        </a:rPr>
                        <a:t>1×4×1</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22222"/>
                          </a:solidFill>
                          <a:latin typeface="Calibri" pitchFamily="34" charset="0"/>
                          <a:ea typeface="Calibri" pitchFamily="34" charset="-122"/>
                          <a:cs typeface="Calibri" pitchFamily="34" charset="-120"/>
                        </a:rPr>
                        <a:t>1.24×  ✓</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10896">
                <a:tc>
                  <a:txBody>
                    <a:bodyPr/>
                    <a:lstStyle/>
                    <a:p>
                      <a:pPr indent="0" marL="0">
                        <a:buNone/>
                      </a:pPr>
                      <a:r>
                        <a:rPr lang="en-US" sz="950" dirty="0">
                          <a:solidFill>
                            <a:srgbClr val="222222"/>
                          </a:solidFill>
                          <a:latin typeface="Calibri" pitchFamily="34" charset="0"/>
                          <a:ea typeface="Calibri" pitchFamily="34" charset="-122"/>
                          <a:cs typeface="Calibri" pitchFamily="34" charset="-120"/>
                        </a:rPr>
                        <a:t>tall A (M ≫ N)</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22222"/>
                          </a:solidFill>
                          <a:latin typeface="Calibri" pitchFamily="34" charset="0"/>
                          <a:ea typeface="Calibri" pitchFamily="34" charset="-122"/>
                          <a:cs typeface="Calibri" pitchFamily="34" charset="-120"/>
                        </a:rPr>
                        <a:t>4×1×1</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22222"/>
                          </a:solidFill>
                          <a:latin typeface="Calibri" pitchFamily="34" charset="0"/>
                          <a:ea typeface="Calibri" pitchFamily="34" charset="-122"/>
                          <a:cs typeface="Calibri" pitchFamily="34" charset="-120"/>
                        </a:rPr>
                        <a:t>1.12×  ✓</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10896">
                <a:tc>
                  <a:txBody>
                    <a:bodyPr/>
                    <a:lstStyle/>
                    <a:p>
                      <a:pPr indent="0" marL="0">
                        <a:buNone/>
                      </a:pPr>
                      <a:r>
                        <a:rPr lang="en-US" sz="950" dirty="0">
                          <a:solidFill>
                            <a:srgbClr val="222222"/>
                          </a:solidFill>
                          <a:latin typeface="Calibri" pitchFamily="34" charset="0"/>
                          <a:ea typeface="Calibri" pitchFamily="34" charset="-122"/>
                          <a:cs typeface="Calibri" pitchFamily="34" charset="-120"/>
                        </a:rPr>
                        <a:t>tall-skinny</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22222"/>
                          </a:solidFill>
                          <a:latin typeface="Calibri" pitchFamily="34" charset="0"/>
                          <a:ea typeface="Calibri" pitchFamily="34" charset="-122"/>
                          <a:cs typeface="Calibri" pitchFamily="34" charset="-120"/>
                        </a:rPr>
                        <a:t>2×2×1</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22222"/>
                          </a:solidFill>
                          <a:latin typeface="Calibri" pitchFamily="34" charset="0"/>
                          <a:ea typeface="Calibri" pitchFamily="34" charset="-122"/>
                          <a:cs typeface="Calibri" pitchFamily="34" charset="-120"/>
                        </a:rPr>
                        <a:t>1.06×  (CIs overlap)</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10896">
                <a:tc>
                  <a:txBody>
                    <a:bodyPr/>
                    <a:lstStyle/>
                    <a:p>
                      <a:pPr indent="0" marL="0">
                        <a:buNone/>
                      </a:pPr>
                      <a:r>
                        <a:rPr lang="en-US" sz="950" dirty="0">
                          <a:solidFill>
                            <a:srgbClr val="222222"/>
                          </a:solidFill>
                          <a:latin typeface="Calibri" pitchFamily="34" charset="0"/>
                          <a:ea typeface="Calibri" pitchFamily="34" charset="-122"/>
                          <a:cs typeface="Calibri" pitchFamily="34" charset="-120"/>
                        </a:rPr>
                        <a:t>square</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22222"/>
                          </a:solidFill>
                          <a:latin typeface="Calibri" pitchFamily="34" charset="0"/>
                          <a:ea typeface="Calibri" pitchFamily="34" charset="-122"/>
                          <a:cs typeface="Calibri" pitchFamily="34" charset="-120"/>
                        </a:rPr>
                        <a:t>1×2×2</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b="1" dirty="0">
                          <a:solidFill>
                            <a:srgbClr val="C8102E"/>
                          </a:solidFill>
                          <a:latin typeface="Calibri" pitchFamily="34" charset="0"/>
                          <a:ea typeface="Calibri" pitchFamily="34" charset="-122"/>
                          <a:cs typeface="Calibri" pitchFamily="34" charset="-120"/>
                        </a:rPr>
                        <a:t>0.95×  (real loss)</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5" name="Text 1"/>
          <p:cNvSpPr txBox="1"/>
          <p:nvPr/>
        </p:nvSpPr>
        <p:spPr>
          <a:xfrm>
            <a:off x="5486400" y="3703320"/>
            <a:ext cx="3200400" cy="914400"/>
          </a:xfrm>
          <a:prstGeom prst="rect">
            <a:avLst/>
          </a:prstGeom>
          <a:noFill/>
          <a:ln/>
        </p:spPr>
        <p:txBody>
          <a:bodyPr wrap="square" lIns="0" tIns="0" rIns="0" bIns="0" rtlCol="0" anchor="ctr"/>
          <a:lstStyle/>
          <a:p>
            <a:pPr indent="0" marL="0">
              <a:buNone/>
            </a:pPr>
            <a:r>
              <a:rPr lang="en-US" sz="1100" dirty="0">
                <a:solidFill>
                  <a:srgbClr val="222222"/>
                </a:solidFill>
                <a:latin typeface="Calibri" pitchFamily="34" charset="0"/>
                <a:ea typeface="Calibri" pitchFamily="34" charset="-122"/>
                <a:cs typeface="Calibri" pitchFamily="34" charset="-120"/>
              </a:rPr>
              <a:t>P = 4, medians of 10 runs with bootstrap 95% CIs. Three significant wins out of five — and the winning decompositions are ones a fixed 2D grid cannot express at all.</a:t>
            </a:r>
            <a:endParaRPr lang="en-US" sz="1100" dirty="0"/>
          </a:p>
        </p:txBody>
      </p:sp>
      <p:sp>
        <p:nvSpPr>
          <p:cNvPr id="6" name="Text 2"/>
          <p:cNvSpPr txBox="1"/>
          <p:nvPr/>
        </p:nvSpPr>
        <p:spPr>
          <a:xfrm>
            <a:off x="7589520" y="4800600"/>
            <a:ext cx="1371600" cy="228600"/>
          </a:xfrm>
          <a:prstGeom prst="rect">
            <a:avLst/>
          </a:prstGeom>
          <a:noFill/>
          <a:ln/>
        </p:spPr>
        <p:txBody>
          <a:bodyPr wrap="square" lIns="0" tIns="0" rIns="0" bIns="0" rtlCol="0" anchor="ctr"/>
          <a:lstStyle/>
          <a:p>
            <a:pPr algn="r" indent="0" marL="0">
              <a:buNone/>
            </a:pPr>
            <a:r>
              <a:rPr lang="en-US" sz="900" dirty="0">
                <a:solidFill>
                  <a:srgbClr val="666666"/>
                </a:solidFill>
                <a:latin typeface="Calibri" pitchFamily="34" charset="0"/>
                <a:ea typeface="Calibri" pitchFamily="34" charset="-122"/>
                <a:cs typeface="Calibri" pitchFamily="34" charset="-120"/>
              </a:rPr>
              <a:t>gemm2d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Result 3 — the model, where it is right and where it is wrong</a:t>
            </a:r>
            <a:endParaRPr lang="en-US" sz="2400" dirty="0"/>
          </a:p>
        </p:txBody>
      </p:sp>
      <p:pic>
        <p:nvPicPr>
          <p:cNvPr id="3" name="Image 0" descr="/home/user/parallel-programming-project/plots/b_sweep.png">    </p:cNvPr>
          <p:cNvPicPr>
            <a:picLocks noChangeAspect="1"/>
          </p:cNvPicPr>
          <p:nvPr/>
        </p:nvPicPr>
        <p:blipFill>
          <a:blip r:embed="rId1"/>
          <a:srcRect l="0" r="0" t="0" b="0"/>
          <a:stretch/>
        </p:blipFill>
        <p:spPr>
          <a:xfrm>
            <a:off x="457200" y="1234440"/>
            <a:ext cx="3840480" cy="2880360"/>
          </a:xfrm>
          <a:prstGeom prst="rect">
            <a:avLst/>
          </a:prstGeom>
        </p:spPr>
      </p:pic>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480560" y="1280160"/>
          <a:ext cx="4206240" cy="914400"/>
        </p:xfrm>
        <a:graphic>
          <a:graphicData uri="http://schemas.openxmlformats.org/drawingml/2006/table">
            <a:tbl>
              <a:tblPr/>
              <a:tblGrid>
                <a:gridCol w="457200"/>
                <a:gridCol w="822960"/>
                <a:gridCol w="822960"/>
                <a:gridCol w="822960"/>
                <a:gridCol w="1280160"/>
              </a:tblGrid>
              <a:tr h="274320">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b</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total [s]</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comm [s]</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comp [s]</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model / measured</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r>
              <a:tr h="274320">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16</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0.2457</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0.0283</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0.2238</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50" b="1" dirty="0">
                          <a:solidFill>
                            <a:srgbClr val="C8102E"/>
                          </a:solidFill>
                          <a:latin typeface="Calibri" pitchFamily="34" charset="0"/>
                          <a:ea typeface="Calibri" pitchFamily="34" charset="-122"/>
                          <a:cs typeface="Calibri" pitchFamily="34" charset="-120"/>
                        </a:rPr>
                        <a:t>0.65 (under by 35%)</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74320">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64</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0.1473</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0.0145</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0.1322</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1.08</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74320">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256</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0.1335</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0.0163</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0.1192</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1.20</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74320">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512</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0.1372</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0.0185</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0.1193</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1.16</a:t>
                      </a:r>
                      <a:endParaRPr lang="en-US" sz="9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5" name="Text 1"/>
          <p:cNvSpPr txBox="1"/>
          <p:nvPr/>
        </p:nvSpPr>
        <p:spPr>
          <a:xfrm>
            <a:off x="4480560" y="3063240"/>
            <a:ext cx="4206240" cy="1645920"/>
          </a:xfrm>
          <a:prstGeom prst="rect">
            <a:avLst/>
          </a:prstGeom>
          <a:noFill/>
          <a:ln/>
        </p:spPr>
        <p:txBody>
          <a:bodyPr wrap="square" lIns="0" tIns="0" rIns="0" bIns="0" rtlCol="0" anchor="t"/>
          <a:lstStyle/>
          <a:p>
            <a:pPr marL="342900" indent="-342900">
              <a:spcAft>
                <a:spcPts val="600"/>
              </a:spcAft>
              <a:buSzPct val="100000"/>
              <a:buChar char="•"/>
            </a:pPr>
            <a:r>
              <a:rPr lang="en-US" sz="1000" b="1" dirty="0">
                <a:solidFill>
                  <a:srgbClr val="222222"/>
                </a:solidFill>
                <a:latin typeface="Calibri" pitchFamily="34" charset="0"/>
                <a:ea typeface="Calibri" pitchFamily="34" charset="-122"/>
                <a:cs typeface="Calibri" pitchFamily="34" charset="-120"/>
              </a:rPr>
              <a:t>Calibrated α = 1.30 µs, 1/β = 4.16 GB/s, 1/γ = 28.7 Gflop/s. For b ≥ 64 the model is within 20% (threshold ±30%).</a:t>
            </a:r>
            <a:endParaRPr lang="en-US" sz="1000" dirty="0"/>
          </a:p>
          <a:p>
            <a:pPr marL="342900" indent="-342900">
              <a:spcAft>
                <a:spcPts val="600"/>
              </a:spcAft>
              <a:buSzPct val="100000"/>
              <a:buChar char="•"/>
            </a:pPr>
            <a:r>
              <a:rPr lang="en-US" sz="1000" b="1" dirty="0">
                <a:solidFill>
                  <a:srgbClr val="222222"/>
                </a:solidFill>
                <a:latin typeface="Calibri" pitchFamily="34" charset="0"/>
                <a:ea typeface="Calibri" pitchFamily="34" charset="-122"/>
                <a:cs typeface="Calibri" pitchFamily="34" charset="-120"/>
              </a:rPr>
              <a:t>Model says only latency depends on b — but measured latency is negligible (21 µs). What varies is compute: 224 → 119 ms. Narrow panels = short, inefficient kernel calls.</a:t>
            </a:r>
            <a:endParaRPr lang="en-US" sz="1000" dirty="0"/>
          </a:p>
          <a:p>
            <a:pPr marL="342900" indent="-342900">
              <a:spcAft>
                <a:spcPts val="600"/>
              </a:spcAft>
              <a:buSzPct val="100000"/>
              <a:buChar char="•"/>
            </a:pPr>
            <a:r>
              <a:rPr lang="en-US" sz="1000" b="1" dirty="0">
                <a:solidFill>
                  <a:srgbClr val="222222"/>
                </a:solidFill>
                <a:latin typeface="Calibri" pitchFamily="34" charset="0"/>
                <a:ea typeface="Calibri" pitchFamily="34" charset="-122"/>
                <a:cs typeface="Calibri" pitchFamily="34" charset="-120"/>
              </a:rPr>
              <a:t>Here b is a kernel-efficiency knob, not a latency knob. Same reason the planner is blind on the square case: 10 ms comm vs 150 ms compute — differences below its own accuracy.</a:t>
            </a:r>
            <a:endParaRPr lang="en-US" sz="1000" dirty="0"/>
          </a:p>
        </p:txBody>
      </p:sp>
      <p:sp>
        <p:nvSpPr>
          <p:cNvPr id="6" name="Text 2"/>
          <p:cNvSpPr txBox="1"/>
          <p:nvPr/>
        </p:nvSpPr>
        <p:spPr>
          <a:xfrm>
            <a:off x="457200" y="4160520"/>
            <a:ext cx="3840480" cy="274320"/>
          </a:xfrm>
          <a:prstGeom prst="rect">
            <a:avLst/>
          </a:prstGeom>
          <a:noFill/>
          <a:ln/>
        </p:spPr>
        <p:txBody>
          <a:bodyPr wrap="square" lIns="0" tIns="0" rIns="0" bIns="0" rtlCol="0" anchor="ctr"/>
          <a:lstStyle/>
          <a:p>
            <a:pPr algn="ctr" indent="0" marL="0">
              <a:buNone/>
            </a:pPr>
            <a:r>
              <a:rPr lang="en-US" sz="1000" dirty="0">
                <a:solidFill>
                  <a:srgbClr val="666666"/>
                </a:solidFill>
                <a:latin typeface="Calibri" pitchFamily="34" charset="0"/>
                <a:ea typeface="Calibri" pitchFamily="34" charset="-122"/>
                <a:cs typeface="Calibri" pitchFamily="34" charset="-120"/>
              </a:rPr>
              <a:t>P = 4, n = 2048</a:t>
            </a:r>
            <a:endParaRPr lang="en-US" sz="1000" dirty="0"/>
          </a:p>
        </p:txBody>
      </p:sp>
      <p:sp>
        <p:nvSpPr>
          <p:cNvPr id="7" name="Text 3"/>
          <p:cNvSpPr txBox="1"/>
          <p:nvPr/>
        </p:nvSpPr>
        <p:spPr>
          <a:xfrm>
            <a:off x="7589520" y="4800600"/>
            <a:ext cx="1371600" cy="228600"/>
          </a:xfrm>
          <a:prstGeom prst="rect">
            <a:avLst/>
          </a:prstGeom>
          <a:noFill/>
          <a:ln/>
        </p:spPr>
        <p:txBody>
          <a:bodyPr wrap="square" lIns="0" tIns="0" rIns="0" bIns="0" rtlCol="0" anchor="ctr"/>
          <a:lstStyle/>
          <a:p>
            <a:pPr algn="r" indent="0" marL="0">
              <a:buNone/>
            </a:pPr>
            <a:r>
              <a:rPr lang="en-US" sz="900" dirty="0">
                <a:solidFill>
                  <a:srgbClr val="666666"/>
                </a:solidFill>
                <a:latin typeface="Calibri" pitchFamily="34" charset="0"/>
                <a:ea typeface="Calibri" pitchFamily="34" charset="-122"/>
                <a:cs typeface="Calibri" pitchFamily="34" charset="-120"/>
              </a:rPr>
              <a:t>gemm2d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Result 4 — scaling, engines, replication</a:t>
            </a:r>
            <a:endParaRPr lang="en-US" sz="2400" dirty="0"/>
          </a:p>
        </p:txBody>
      </p:sp>
      <p:pic>
        <p:nvPicPr>
          <p:cNvPr id="3" name="Image 0" descr="/home/user/parallel-programming-project/plots/strong_scaling.png">    </p:cNvPr>
          <p:cNvPicPr>
            <a:picLocks noChangeAspect="1"/>
          </p:cNvPicPr>
          <p:nvPr/>
        </p:nvPicPr>
        <p:blipFill>
          <a:blip r:embed="rId1"/>
          <a:srcRect l="0" r="0" t="0" b="0"/>
          <a:stretch/>
        </p:blipFill>
        <p:spPr>
          <a:xfrm>
            <a:off x="365760" y="1188720"/>
            <a:ext cx="4206240" cy="1828800"/>
          </a:xfrm>
          <a:prstGeom prst="rect">
            <a:avLst/>
          </a:prstGeom>
        </p:spPr>
      </p:pic>
      <p:pic>
        <p:nvPicPr>
          <p:cNvPr id="4" name="Image 1" descr="/home/user/parallel-programming-project/plots/engine_comparison.png">    </p:cNvPr>
          <p:cNvPicPr>
            <a:picLocks noChangeAspect="1"/>
          </p:cNvPicPr>
          <p:nvPr/>
        </p:nvPicPr>
        <p:blipFill>
          <a:blip r:embed="rId2"/>
          <a:srcRect l="0" r="0" t="0" b="0"/>
          <a:stretch/>
        </p:blipFill>
        <p:spPr>
          <a:xfrm>
            <a:off x="365760" y="3017520"/>
            <a:ext cx="4206240" cy="1828800"/>
          </a:xfrm>
          <a:prstGeom prst="rect">
            <a:avLst/>
          </a:prstGeom>
        </p:spPr>
      </p:pic>
      <p:pic>
        <p:nvPicPr>
          <p:cNvPr id="5" name="Image 2" descr="/home/user/parallel-programming-project/plots/c_sweep.png">    </p:cNvPr>
          <p:cNvPicPr>
            <a:picLocks noChangeAspect="1"/>
          </p:cNvPicPr>
          <p:nvPr/>
        </p:nvPicPr>
        <p:blipFill>
          <a:blip r:embed="rId3"/>
          <a:srcRect l="0" r="0" t="0" b="0"/>
          <a:stretch/>
        </p:blipFill>
        <p:spPr>
          <a:xfrm>
            <a:off x="4663440" y="1188720"/>
            <a:ext cx="4023360" cy="1737360"/>
          </a:xfrm>
          <a:prstGeom prst="rect">
            <a:avLst/>
          </a:prstGeom>
        </p:spPr>
      </p:pic>
      <p:sp>
        <p:nvSpPr>
          <p:cNvPr id="6" name="Text 1"/>
          <p:cNvSpPr txBox="1"/>
          <p:nvPr/>
        </p:nvSpPr>
        <p:spPr>
          <a:xfrm>
            <a:off x="4663440" y="3017520"/>
            <a:ext cx="4023360" cy="1691640"/>
          </a:xfrm>
          <a:prstGeom prst="rect">
            <a:avLst/>
          </a:prstGeom>
          <a:noFill/>
          <a:ln/>
        </p:spPr>
        <p:txBody>
          <a:bodyPr wrap="square" lIns="0" tIns="0" rIns="0" bIns="0" rtlCol="0" anchor="t"/>
          <a:lstStyle/>
          <a:p>
            <a:pPr marL="342900" indent="-342900">
              <a:spcAft>
                <a:spcPts val="600"/>
              </a:spcAft>
              <a:buSzPct val="100000"/>
              <a:buChar char="•"/>
            </a:pPr>
            <a:r>
              <a:rPr lang="en-US" sz="1000" b="1" dirty="0">
                <a:solidFill>
                  <a:srgbClr val="222222"/>
                </a:solidFill>
                <a:latin typeface="Calibri" pitchFamily="34" charset="0"/>
                <a:ea typeface="Calibri" pitchFamily="34" charset="-122"/>
                <a:cs typeface="Calibri" pitchFamily="34" charset="-120"/>
              </a:rPr>
              <a:t>Strong scaling, n = 2048: speedup 1.00 / 1.92 / 3.55 at P = 1, 2, 4 → 89% efficiency, 124.5 Gflop/s. Shared-memory result: says nothing about the network.</a:t>
            </a:r>
            <a:endParaRPr lang="en-US" sz="1000" dirty="0"/>
          </a:p>
          <a:p>
            <a:pPr marL="342900" indent="-342900">
              <a:spcAft>
                <a:spcPts val="600"/>
              </a:spcAft>
              <a:buSzPct val="100000"/>
              <a:buChar char="•"/>
            </a:pPr>
            <a:r>
              <a:rPr lang="en-US" sz="1000" b="1" dirty="0">
                <a:solidFill>
                  <a:srgbClr val="222222"/>
                </a:solidFill>
                <a:latin typeface="Calibri" pitchFamily="34" charset="0"/>
                <a:ea typeface="Calibri" pitchFamily="34" charset="-122"/>
                <a:cs typeface="Calibri" pitchFamily="34" charset="-120"/>
              </a:rPr>
              <a:t>Engines, P = 4: SUMMA 120.1, 2.5D 117.3, naive1D 95.4 Gflop/s. naive1D moves 1.5× the bytes (K·N per rank, independent of P). Cannon 124.3 — only on the square divisible case.</a:t>
            </a:r>
            <a:endParaRPr lang="en-US" sz="1000" dirty="0"/>
          </a:p>
          <a:p>
            <a:pPr marL="342900" indent="-342900">
              <a:spcAft>
                <a:spcPts val="600"/>
              </a:spcAft>
              <a:buSzPct val="100000"/>
              <a:buChar char="•"/>
            </a:pPr>
            <a:r>
              <a:rPr lang="en-US" sz="1000" b="1" dirty="0">
                <a:solidFill>
                  <a:srgbClr val="222222"/>
                </a:solidFill>
                <a:latin typeface="Calibri" pitchFamily="34" charset="0"/>
                <a:ea typeface="Calibri" pitchFamily="34" charset="-122"/>
                <a:cs typeface="Calibri" pitchFamily="34" charset="-120"/>
              </a:rPr>
              <a:t>c sweep: 0.138 / 0.145 / 0.225 s for c = 1, 2, 4. P^(1/3) = 1.59 lies between the feasible c = 1 and 2 — a decisive test needs larger P.</a:t>
            </a:r>
            <a:endParaRPr lang="en-US" sz="1000" dirty="0"/>
          </a:p>
        </p:txBody>
      </p:sp>
      <p:sp>
        <p:nvSpPr>
          <p:cNvPr id="7" name="Text 2"/>
          <p:cNvSpPr txBox="1"/>
          <p:nvPr/>
        </p:nvSpPr>
        <p:spPr>
          <a:xfrm>
            <a:off x="7589520" y="4800600"/>
            <a:ext cx="1371600" cy="228600"/>
          </a:xfrm>
          <a:prstGeom prst="rect">
            <a:avLst/>
          </a:prstGeom>
          <a:noFill/>
          <a:ln/>
        </p:spPr>
        <p:txBody>
          <a:bodyPr wrap="square" lIns="0" tIns="0" rIns="0" bIns="0" rtlCol="0" anchor="ctr"/>
          <a:lstStyle/>
          <a:p>
            <a:pPr algn="r" indent="0" marL="0">
              <a:buNone/>
            </a:pPr>
            <a:r>
              <a:rPr lang="en-US" sz="900" dirty="0">
                <a:solidFill>
                  <a:srgbClr val="666666"/>
                </a:solidFill>
                <a:latin typeface="Calibri" pitchFamily="34" charset="0"/>
                <a:ea typeface="Calibri" pitchFamily="34" charset="-122"/>
                <a:cs typeface="Calibri" pitchFamily="34" charset="-120"/>
              </a:rPr>
              <a:t>gemm2d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Two more findings: a shared-memory broadcast, numerics</a:t>
            </a:r>
            <a:endParaRPr lang="en-US" sz="2400" dirty="0"/>
          </a:p>
        </p:txBody>
      </p:sp>
      <p:sp>
        <p:nvSpPr>
          <p:cNvPr id="3" name="Text 1"/>
          <p:cNvSpPr txBox="1"/>
          <p:nvPr/>
        </p:nvSpPr>
        <p:spPr>
          <a:xfrm>
            <a:off x="457200" y="1234440"/>
            <a:ext cx="493776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Node-aware two-level broadcast (MPI-3 SHM)</a:t>
            </a:r>
            <a:endParaRPr lang="en-US" sz="1400" dirty="0"/>
          </a:p>
        </p:txBody>
      </p:sp>
      <p:sp>
        <p:nvSpPr>
          <p:cNvPr id="4" name="Text 2"/>
          <p:cNvSpPr txBox="1"/>
          <p:nvPr/>
        </p:nvSpPr>
        <p:spPr>
          <a:xfrm>
            <a:off x="457200" y="1645920"/>
            <a:ext cx="4937760" cy="3017520"/>
          </a:xfrm>
          <a:prstGeom prst="rect">
            <a:avLst/>
          </a:prstGeom>
          <a:noFill/>
          <a:ln/>
        </p:spPr>
        <p:txBody>
          <a:bodyPr wrap="square" lIns="0" tIns="0" rIns="0" bIns="0" rtlCol="0" anchor="t"/>
          <a:lstStyle/>
          <a:p>
            <a:pPr marL="342900" indent="-342900">
              <a:spcAft>
                <a:spcPts val="600"/>
              </a:spcAft>
              <a:buSzPct val="100000"/>
              <a:buChar char="•"/>
            </a:pPr>
            <a:r>
              <a:rPr lang="en-US" sz="1200" b="1" dirty="0">
                <a:solidFill>
                  <a:srgbClr val="222222"/>
                </a:solidFill>
                <a:latin typeface="Calibri" pitchFamily="34" charset="0"/>
                <a:ea typeface="Calibri" pitchFamily="34" charset="-122"/>
                <a:cs typeface="Calibri" pitchFamily="34" charset="-120"/>
              </a:rPr>
              <a:t>Alternative to MPI-4 persistent collectives: one leader per node joins the inter-node broadcast; the other ranks read the panel from shared memory</a:t>
            </a:r>
            <a:endParaRPr lang="en-US" sz="1200" dirty="0"/>
          </a:p>
          <a:p>
            <a:pPr marL="342900" indent="-342900">
              <a:spcAft>
                <a:spcPts val="600"/>
              </a:spcAft>
              <a:buSzPct val="100000"/>
              <a:buChar char="•"/>
            </a:pPr>
            <a:r>
              <a:rPr lang="en-US" sz="1200" b="1" dirty="0">
                <a:solidFill>
                  <a:srgbClr val="222222"/>
                </a:solidFill>
                <a:latin typeface="Calibri" pitchFamily="34" charset="0"/>
                <a:ea typeface="Calibri" pitchFamily="34" charset="-122"/>
                <a:cs typeface="Calibri" pitchFamily="34" charset="-120"/>
              </a:rPr>
              <a:t>Modelled off-node panel traffic halves with 2 ranks/node: 0.0168 → 0.0084 GB, as predicted</a:t>
            </a:r>
            <a:endParaRPr lang="en-US" sz="1200" dirty="0"/>
          </a:p>
          <a:p>
            <a:pPr marL="342900" indent="-342900">
              <a:spcAft>
                <a:spcPts val="600"/>
              </a:spcAft>
              <a:buSzPct val="100000"/>
              <a:buChar char="•"/>
            </a:pPr>
            <a:r>
              <a:rPr lang="en-US" sz="1200" b="1" dirty="0">
                <a:solidFill>
                  <a:srgbClr val="222222"/>
                </a:solidFill>
                <a:latin typeface="Calibri" pitchFamily="34" charset="0"/>
                <a:ea typeface="Calibri" pitchFamily="34" charset="-122"/>
                <a:cs typeface="Calibri" pitchFamily="34" charset="-120"/>
              </a:rPr>
              <a:t>But the shared panel becomes a critical section: a fast rank can overwrite a panel a slower neighbour is still reading → barrier before each reuse</a:t>
            </a:r>
            <a:endParaRPr lang="en-US" sz="1200" dirty="0"/>
          </a:p>
          <a:p>
            <a:pPr lvl="1" marL="381000" indent="-190500">
              <a:spcAft>
                <a:spcPts val="600"/>
              </a:spcAft>
              <a:buSzPct val="100000"/>
              <a:buChar char="•"/>
            </a:pPr>
            <a:r>
              <a:rPr lang="en-US" sz="1050" dirty="0">
                <a:solidFill>
                  <a:srgbClr val="222222"/>
                </a:solidFill>
                <a:latin typeface="Calibri" pitchFamily="34" charset="0"/>
                <a:ea typeface="Calibri" pitchFamily="34" charset="-122"/>
                <a:cs typeface="Calibri" pitchFamily="34" charset="-120"/>
              </a:rPr>
              <a:t>Those barriers are exactly what pipelining avoids → does not compose with lookahead</a:t>
            </a:r>
            <a:endParaRPr lang="en-US" sz="1200" dirty="0"/>
          </a:p>
          <a:p>
            <a:pPr lvl="1" marL="381000" indent="-190500">
              <a:spcAft>
                <a:spcPts val="600"/>
              </a:spcAft>
              <a:buSzPct val="100000"/>
              <a:buChar char="•"/>
            </a:pPr>
            <a:r>
              <a:rPr lang="en-US" sz="1050" dirty="0">
                <a:solidFill>
                  <a:srgbClr val="222222"/>
                </a:solidFill>
                <a:latin typeface="Calibri" pitchFamily="34" charset="0"/>
                <a:ea typeface="Calibri" pitchFamily="34" charset="-122"/>
                <a:cs typeface="Calibri" pitchFamily="34" charset="-120"/>
              </a:rPr>
              <a:t>Timing comparison is meaningless on one node — byte reduction reported, speed-up deliberately not claimed</a:t>
            </a:r>
            <a:endParaRPr lang="en-US" sz="1200" dirty="0"/>
          </a:p>
        </p:txBody>
      </p:sp>
      <p:sp>
        <p:nvSpPr>
          <p:cNvPr id="5" name="Shape 3"/>
          <p:cNvSpPr/>
          <p:nvPr/>
        </p:nvSpPr>
        <p:spPr>
          <a:xfrm>
            <a:off x="5669280" y="1234440"/>
            <a:ext cx="3017520" cy="3291840"/>
          </a:xfrm>
          <a:prstGeom prst="roundRect">
            <a:avLst>
              <a:gd name="adj" fmla="val 2424"/>
            </a:avLst>
          </a:prstGeom>
          <a:solidFill>
            <a:srgbClr val="F2F4F8"/>
          </a:solidFill>
          <a:ln w="12700">
            <a:solidFill>
              <a:srgbClr val="F2F4F8"/>
            </a:solidFill>
            <a:prstDash val="solid"/>
          </a:ln>
        </p:spPr>
      </p:sp>
      <p:sp>
        <p:nvSpPr>
          <p:cNvPr id="6" name="Text 4"/>
          <p:cNvSpPr txBox="1"/>
          <p:nvPr/>
        </p:nvSpPr>
        <p:spPr>
          <a:xfrm>
            <a:off x="5852160" y="1371600"/>
            <a:ext cx="274320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Numerical behaviour</a:t>
            </a:r>
            <a:endParaRPr lang="en-US" sz="1500" dirty="0"/>
          </a:p>
        </p:txBody>
      </p:sp>
      <p:sp>
        <p:nvSpPr>
          <p:cNvPr id="7" name="Text 5"/>
          <p:cNvSpPr txBox="1"/>
          <p:nvPr/>
        </p:nvSpPr>
        <p:spPr>
          <a:xfrm>
            <a:off x="5852160" y="1828800"/>
            <a:ext cx="2743200" cy="548640"/>
          </a:xfrm>
          <a:prstGeom prst="rect">
            <a:avLst/>
          </a:prstGeom>
          <a:noFill/>
          <a:ln/>
        </p:spPr>
        <p:txBody>
          <a:bodyPr wrap="square" lIns="0" tIns="0" rIns="0" bIns="0" rtlCol="0" anchor="ctr"/>
          <a:lstStyle/>
          <a:p>
            <a:pPr indent="0" marL="0">
              <a:buNone/>
            </a:pPr>
            <a:r>
              <a:rPr lang="en-US" sz="2200" b="1" dirty="0">
                <a:solidFill>
                  <a:srgbClr val="C8102E"/>
                </a:solidFill>
                <a:latin typeface="Calibri" pitchFamily="34" charset="0"/>
                <a:ea typeface="Calibri" pitchFamily="34" charset="-122"/>
                <a:cs typeface="Calibri" pitchFamily="34" charset="-120"/>
              </a:rPr>
              <a:t>8.7e-16 – 1.1e-15</a:t>
            </a:r>
            <a:endParaRPr lang="en-US" sz="2200" dirty="0"/>
          </a:p>
        </p:txBody>
      </p:sp>
      <p:sp>
        <p:nvSpPr>
          <p:cNvPr id="8" name="Text 6"/>
          <p:cNvSpPr txBox="1"/>
          <p:nvPr/>
        </p:nvSpPr>
        <p:spPr>
          <a:xfrm>
            <a:off x="5852160" y="2377440"/>
            <a:ext cx="2743200" cy="365760"/>
          </a:xfrm>
          <a:prstGeom prst="rect">
            <a:avLst/>
          </a:prstGeom>
          <a:noFill/>
          <a:ln/>
        </p:spPr>
        <p:txBody>
          <a:bodyPr wrap="square" lIns="0" tIns="0" rIns="0" bIns="0" rtlCol="0" anchor="ctr"/>
          <a:lstStyle/>
          <a:p>
            <a:pPr indent="0" marL="0">
              <a:buNone/>
            </a:pPr>
            <a:r>
              <a:rPr lang="en-US" sz="1100" dirty="0">
                <a:solidFill>
                  <a:srgbClr val="666666"/>
                </a:solidFill>
                <a:latin typeface="Calibri" pitchFamily="34" charset="0"/>
                <a:ea typeface="Calibri" pitchFamily="34" charset="-122"/>
                <a:cs typeface="Calibri" pitchFamily="34" charset="-120"/>
              </a:rPr>
              <a:t>relative residual across {engine, c, b}</a:t>
            </a:r>
            <a:endParaRPr lang="en-US" sz="1100" dirty="0"/>
          </a:p>
        </p:txBody>
      </p:sp>
      <p:sp>
        <p:nvSpPr>
          <p:cNvPr id="9" name="Text 7"/>
          <p:cNvSpPr txBox="1"/>
          <p:nvPr/>
        </p:nvSpPr>
        <p:spPr>
          <a:xfrm>
            <a:off x="5852160" y="2834640"/>
            <a:ext cx="2743200" cy="1554480"/>
          </a:xfrm>
          <a:prstGeom prst="rect">
            <a:avLst/>
          </a:prstGeom>
          <a:noFill/>
          <a:ln/>
        </p:spPr>
        <p:txBody>
          <a:bodyPr wrap="square" lIns="0" tIns="0" rIns="0" bIns="0" rtlCol="0" anchor="t"/>
          <a:lstStyle/>
          <a:p>
            <a:pPr indent="0" marL="0">
              <a:buNone/>
            </a:pPr>
            <a:r>
              <a:rPr lang="en-US" sz="1150" dirty="0">
                <a:solidFill>
                  <a:srgbClr val="222222"/>
                </a:solidFill>
                <a:latin typeface="Calibri" pitchFamily="34" charset="0"/>
                <a:ea typeface="Calibri" pitchFamily="34" charset="-122"/>
                <a:cs typeface="Calibri" pitchFamily="34" charset="-120"/>
              </a:rPr>
              <a:t>Summation order changes with c and b, so results are not bitwise reproducible across configurations. Quantified rather than hidden: consistent with O(Kε) error growth.</a:t>
            </a:r>
            <a:endParaRPr lang="en-US" sz="1150" dirty="0"/>
          </a:p>
        </p:txBody>
      </p:sp>
      <p:sp>
        <p:nvSpPr>
          <p:cNvPr id="10" name="Text 8"/>
          <p:cNvSpPr txBox="1"/>
          <p:nvPr/>
        </p:nvSpPr>
        <p:spPr>
          <a:xfrm>
            <a:off x="7589520" y="4800600"/>
            <a:ext cx="1371600" cy="228600"/>
          </a:xfrm>
          <a:prstGeom prst="rect">
            <a:avLst/>
          </a:prstGeom>
          <a:noFill/>
          <a:ln/>
        </p:spPr>
        <p:txBody>
          <a:bodyPr wrap="square" lIns="0" tIns="0" rIns="0" bIns="0" rtlCol="0" anchor="ctr"/>
          <a:lstStyle/>
          <a:p>
            <a:pPr algn="r" indent="0" marL="0">
              <a:buNone/>
            </a:pPr>
            <a:r>
              <a:rPr lang="en-US" sz="900" dirty="0">
                <a:solidFill>
                  <a:srgbClr val="666666"/>
                </a:solidFill>
                <a:latin typeface="Calibri" pitchFamily="34" charset="0"/>
                <a:ea typeface="Calibri" pitchFamily="34" charset="-122"/>
                <a:cs typeface="Calibri" pitchFamily="34" charset="-120"/>
              </a:rPr>
              <a:t>gemm2d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Conclusions and honest limitations</a:t>
            </a:r>
            <a:endParaRPr lang="en-US" sz="2400" dirty="0"/>
          </a:p>
        </p:txBody>
      </p:sp>
      <p:sp>
        <p:nvSpPr>
          <p:cNvPr id="3" name="Text 1"/>
          <p:cNvSpPr txBox="1"/>
          <p:nvPr/>
        </p:nvSpPr>
        <p:spPr>
          <a:xfrm>
            <a:off x="457200" y="1234440"/>
            <a:ext cx="402336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What was shown</a:t>
            </a:r>
            <a:endParaRPr lang="en-US" sz="1600" dirty="0"/>
          </a:p>
        </p:txBody>
      </p:sp>
      <p:sp>
        <p:nvSpPr>
          <p:cNvPr id="4" name="Text 2"/>
          <p:cNvSpPr txBox="1"/>
          <p:nvPr/>
        </p:nvSpPr>
        <p:spPr>
          <a:xfrm>
            <a:off x="457200" y="1645920"/>
            <a:ext cx="4023360" cy="3017520"/>
          </a:xfrm>
          <a:prstGeom prst="rect">
            <a:avLst/>
          </a:prstGeom>
          <a:noFill/>
          <a:ln/>
        </p:spPr>
        <p:txBody>
          <a:bodyPr wrap="square" lIns="0" tIns="0" rIns="0" bIns="0" rtlCol="0" anchor="t"/>
          <a:lstStyle/>
          <a:p>
            <a:pPr marL="342900" indent="-342900">
              <a:spcAft>
                <a:spcPts val="600"/>
              </a:spcAft>
              <a:buSzPct val="100000"/>
              <a:buChar char="•"/>
            </a:pPr>
            <a:r>
              <a:rPr lang="en-US" sz="1250" b="1" dirty="0">
                <a:solidFill>
                  <a:srgbClr val="222222"/>
                </a:solidFill>
                <a:latin typeface="Calibri" pitchFamily="34" charset="0"/>
                <a:ea typeface="Calibri" pitchFamily="34" charset="-122"/>
                <a:cs typeface="Calibri" pitchFamily="34" charset="-120"/>
              </a:rPr>
              <a:t>A distributed GEMM can be genuinely generic — any M, N, K; any P incl. primes; any grid — without giving up performance</a:t>
            </a:r>
            <a:endParaRPr lang="en-US" sz="1250" dirty="0"/>
          </a:p>
          <a:p>
            <a:pPr marL="342900" indent="-342900">
              <a:spcAft>
                <a:spcPts val="600"/>
              </a:spcAft>
              <a:buSzPct val="100000"/>
              <a:buChar char="•"/>
            </a:pPr>
            <a:r>
              <a:rPr lang="en-US" sz="1250" b="1" dirty="0">
                <a:solidFill>
                  <a:srgbClr val="222222"/>
                </a:solidFill>
                <a:latin typeface="Calibri" pitchFamily="34" charset="0"/>
                <a:ea typeface="Calibri" pitchFamily="34" charset="-122"/>
                <a:cs typeface="Calibri" pitchFamily="34" charset="-120"/>
              </a:rPr>
              <a:t>The process grid is worth choosing at run time: a few-dozen-line planner gives a significant 1.12×–1.36× over a fixed grid on three of five shapes</a:t>
            </a:r>
            <a:endParaRPr lang="en-US" sz="1250" dirty="0"/>
          </a:p>
          <a:p>
            <a:pPr lvl="1" marL="381000" indent="-190500">
              <a:spcAft>
                <a:spcPts val="600"/>
              </a:spcAft>
              <a:buSzPct val="100000"/>
              <a:buChar char="•"/>
            </a:pPr>
            <a:r>
              <a:rPr lang="en-US" sz="1100" dirty="0">
                <a:solidFill>
                  <a:srgbClr val="222222"/>
                </a:solidFill>
                <a:latin typeface="Calibri" pitchFamily="34" charset="0"/>
                <a:ea typeface="Calibri" pitchFamily="34" charset="-122"/>
                <a:cs typeface="Calibri" pitchFamily="34" charset="-120"/>
              </a:rPr>
              <a:t>It finds decompositions (1×1×4) a fixed 2D grid cannot express</a:t>
            </a:r>
            <a:endParaRPr lang="en-US" sz="1250" dirty="0"/>
          </a:p>
          <a:p>
            <a:pPr marL="342900" indent="-342900">
              <a:spcAft>
                <a:spcPts val="600"/>
              </a:spcAft>
              <a:buSzPct val="100000"/>
              <a:buChar char="•"/>
            </a:pPr>
            <a:r>
              <a:rPr lang="en-US" sz="1250" b="1" dirty="0">
                <a:solidFill>
                  <a:srgbClr val="222222"/>
                </a:solidFill>
                <a:latin typeface="Calibri" pitchFamily="34" charset="0"/>
                <a:ea typeface="Calibri" pitchFamily="34" charset="-122"/>
                <a:cs typeface="Calibri" pitchFamily="34" charset="-120"/>
              </a:rPr>
              <a:t>Cost model within 20% of measured runtime for b ≥ 64</a:t>
            </a:r>
            <a:endParaRPr lang="en-US" sz="1250" dirty="0"/>
          </a:p>
          <a:p>
            <a:pPr marL="342900" indent="-342900">
              <a:spcAft>
                <a:spcPts val="600"/>
              </a:spcAft>
              <a:buSzPct val="100000"/>
              <a:buChar char="•"/>
            </a:pPr>
            <a:r>
              <a:rPr lang="en-US" sz="1250" b="1" dirty="0">
                <a:solidFill>
                  <a:srgbClr val="222222"/>
                </a:solidFill>
                <a:latin typeface="Calibri" pitchFamily="34" charset="0"/>
                <a:ea typeface="Calibri" pitchFamily="34" charset="-122"/>
                <a:cs typeface="Calibri" pitchFamily="34" charset="-120"/>
              </a:rPr>
              <a:t>43/43 tests, Freivalds at scale, residuals ~1e-15</a:t>
            </a:r>
            <a:endParaRPr lang="en-US" sz="1250" dirty="0"/>
          </a:p>
        </p:txBody>
      </p:sp>
      <p:sp>
        <p:nvSpPr>
          <p:cNvPr id="5" name="Text 3"/>
          <p:cNvSpPr txBox="1"/>
          <p:nvPr/>
        </p:nvSpPr>
        <p:spPr>
          <a:xfrm>
            <a:off x="4754880" y="1234440"/>
            <a:ext cx="3931920" cy="365760"/>
          </a:xfrm>
          <a:prstGeom prst="rect">
            <a:avLst/>
          </a:prstGeom>
          <a:noFill/>
          <a:ln/>
        </p:spPr>
        <p:txBody>
          <a:bodyPr wrap="square" lIns="0" tIns="0" rIns="0" bIns="0" rtlCol="0" anchor="ctr"/>
          <a:lstStyle/>
          <a:p>
            <a:pPr indent="0" marL="0">
              <a:buNone/>
            </a:pPr>
            <a:r>
              <a:rPr lang="en-US" sz="1600" b="1" dirty="0">
                <a:solidFill>
                  <a:srgbClr val="C8102E"/>
                </a:solidFill>
                <a:latin typeface="Calibri" pitchFamily="34" charset="0"/>
                <a:ea typeface="Calibri" pitchFamily="34" charset="-122"/>
                <a:cs typeface="Calibri" pitchFamily="34" charset="-120"/>
              </a:rPr>
              <a:t>Three limitations</a:t>
            </a:r>
            <a:endParaRPr lang="en-US" sz="1600" dirty="0"/>
          </a:p>
        </p:txBody>
      </p:sp>
      <p:sp>
        <p:nvSpPr>
          <p:cNvPr id="6" name="Text 4"/>
          <p:cNvSpPr txBox="1"/>
          <p:nvPr/>
        </p:nvSpPr>
        <p:spPr>
          <a:xfrm>
            <a:off x="4754880" y="1645920"/>
            <a:ext cx="3931920" cy="3017520"/>
          </a:xfrm>
          <a:prstGeom prst="rect">
            <a:avLst/>
          </a:prstGeom>
          <a:noFill/>
          <a:ln/>
        </p:spPr>
        <p:txBody>
          <a:bodyPr wrap="square" lIns="0" tIns="0" rIns="0" bIns="0" rtlCol="0" anchor="t"/>
          <a:lstStyle/>
          <a:p>
            <a:pPr marL="342900" indent="-342900">
              <a:spcAft>
                <a:spcPts val="600"/>
              </a:spcAft>
              <a:buSzPct val="100000"/>
              <a:buChar char="•"/>
            </a:pPr>
            <a:r>
              <a:rPr lang="en-US" sz="1250" b="1" dirty="0">
                <a:solidFill>
                  <a:srgbClr val="222222"/>
                </a:solidFill>
                <a:latin typeface="Calibri" pitchFamily="34" charset="0"/>
                <a:ea typeface="Calibri" pitchFamily="34" charset="-122"/>
                <a:cs typeface="Calibri" pitchFamily="34" charset="-120"/>
              </a:rPr>
              <a:t>1. Planner regresses 5% on square operands — it ranks differences below its own accuracy. Fix: gate on predicted spread vs. residual error</a:t>
            </a:r>
            <a:endParaRPr lang="en-US" sz="1250" dirty="0"/>
          </a:p>
          <a:p>
            <a:pPr marL="342900" indent="-342900">
              <a:spcAft>
                <a:spcPts val="600"/>
              </a:spcAft>
              <a:buSzPct val="100000"/>
              <a:buChar char="•"/>
            </a:pPr>
            <a:r>
              <a:rPr lang="en-US" sz="1250" b="1" dirty="0">
                <a:solidFill>
                  <a:srgbClr val="222222"/>
                </a:solidFill>
                <a:latin typeface="Calibri" pitchFamily="34" charset="0"/>
                <a:ea typeface="Calibri" pitchFamily="34" charset="-122"/>
                <a:cs typeface="Calibri" pitchFamily="34" charset="-120"/>
              </a:rPr>
              <a:t>2. Model attributes all b-dependence to latency; the dominant effect is kernel efficiency. Fix: a panel-width term in γ</a:t>
            </a:r>
            <a:endParaRPr lang="en-US" sz="1250" dirty="0"/>
          </a:p>
          <a:p>
            <a:pPr marL="342900" indent="-342900">
              <a:spcAft>
                <a:spcPts val="600"/>
              </a:spcAft>
              <a:buSzPct val="100000"/>
              <a:buChar char="•"/>
            </a:pPr>
            <a:r>
              <a:rPr lang="en-US" sz="1250" b="1" dirty="0">
                <a:solidFill>
                  <a:srgbClr val="222222"/>
                </a:solidFill>
                <a:latin typeface="Calibri" pitchFamily="34" charset="0"/>
                <a:ea typeface="Calibri" pitchFamily="34" charset="-122"/>
                <a:cs typeface="Calibri" pitchFamily="34" charset="-120"/>
              </a:rPr>
              <a:t>3. Results are single-node. They validate the algorithms, the model and the correctness argument; the multi-node campaign is queued, not complete. β across a real interconnect will differ by ~an order of magnitude</a:t>
            </a:r>
            <a:endParaRPr lang="en-US" sz="1250" dirty="0"/>
          </a:p>
        </p:txBody>
      </p:sp>
      <p:sp>
        <p:nvSpPr>
          <p:cNvPr id="7" name="Text 5"/>
          <p:cNvSpPr txBox="1"/>
          <p:nvPr/>
        </p:nvSpPr>
        <p:spPr>
          <a:xfrm>
            <a:off x="7589520" y="4800600"/>
            <a:ext cx="1371600" cy="228600"/>
          </a:xfrm>
          <a:prstGeom prst="rect">
            <a:avLst/>
          </a:prstGeom>
          <a:noFill/>
          <a:ln/>
        </p:spPr>
        <p:txBody>
          <a:bodyPr wrap="square" lIns="0" tIns="0" rIns="0" bIns="0" rtlCol="0" anchor="ctr"/>
          <a:lstStyle/>
          <a:p>
            <a:pPr algn="r" indent="0" marL="0">
              <a:buNone/>
            </a:pPr>
            <a:r>
              <a:rPr lang="en-US" sz="900" dirty="0">
                <a:solidFill>
                  <a:srgbClr val="666666"/>
                </a:solidFill>
                <a:latin typeface="Calibri" pitchFamily="34" charset="0"/>
                <a:ea typeface="Calibri" pitchFamily="34" charset="-122"/>
                <a:cs typeface="Calibri" pitchFamily="34" charset="-120"/>
              </a:rPr>
              <a:t>gemm2d —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Future work and reproducibility</a:t>
            </a:r>
            <a:endParaRPr lang="en-US" sz="2800" dirty="0"/>
          </a:p>
        </p:txBody>
      </p:sp>
      <p:sp>
        <p:nvSpPr>
          <p:cNvPr id="3" name="Text 1"/>
          <p:cNvSpPr txBox="1"/>
          <p:nvPr/>
        </p:nvSpPr>
        <p:spPr>
          <a:xfrm>
            <a:off x="457200" y="1188720"/>
            <a:ext cx="4023360" cy="365760"/>
          </a:xfrm>
          <a:prstGeom prst="rect">
            <a:avLst/>
          </a:prstGeom>
          <a:noFill/>
          <a:ln/>
        </p:spPr>
        <p:txBody>
          <a:bodyPr wrap="square" lIns="0" tIns="0" rIns="0" bIns="0" rtlCol="0" anchor="ctr"/>
          <a:lstStyle/>
          <a:p>
            <a:pPr indent="0" marL="0">
              <a:buNone/>
            </a:pPr>
            <a:r>
              <a:rPr lang="en-US" sz="1500" b="1" dirty="0">
                <a:solidFill>
                  <a:srgbClr val="CADCFC"/>
                </a:solidFill>
                <a:latin typeface="Calibri" pitchFamily="34" charset="0"/>
                <a:ea typeface="Calibri" pitchFamily="34" charset="-122"/>
                <a:cs typeface="Calibri" pitchFamily="34" charset="-120"/>
              </a:rPr>
              <a:t>Next steps</a:t>
            </a:r>
            <a:endParaRPr lang="en-US" sz="1500" dirty="0"/>
          </a:p>
        </p:txBody>
      </p:sp>
      <p:sp>
        <p:nvSpPr>
          <p:cNvPr id="4" name="Text 2"/>
          <p:cNvSpPr txBox="1"/>
          <p:nvPr/>
        </p:nvSpPr>
        <p:spPr>
          <a:xfrm>
            <a:off x="457200" y="1600200"/>
            <a:ext cx="4023360" cy="27432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Run the multi-node campaign (jobs/*.pbs, 4 × 72-core nodes)</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Type genericity (G3): float/double via include-template — halves volume in the bandwidth-bound regime</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MPI-4 persistent collectives as a third broadcast policy</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Network roofline: I_net = (2MNK/P) / bytes</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Compare against COSMA on the same shapes — the correct reference for the planner claim</a:t>
            </a:r>
            <a:endParaRPr lang="en-US" sz="1250" dirty="0"/>
          </a:p>
        </p:txBody>
      </p:sp>
      <p:sp>
        <p:nvSpPr>
          <p:cNvPr id="5" name="Text 3"/>
          <p:cNvSpPr txBox="1"/>
          <p:nvPr/>
        </p:nvSpPr>
        <p:spPr>
          <a:xfrm>
            <a:off x="4754880" y="1188720"/>
            <a:ext cx="3931920" cy="365760"/>
          </a:xfrm>
          <a:prstGeom prst="rect">
            <a:avLst/>
          </a:prstGeom>
          <a:noFill/>
          <a:ln/>
        </p:spPr>
        <p:txBody>
          <a:bodyPr wrap="square" lIns="0" tIns="0" rIns="0" bIns="0" rtlCol="0" anchor="ctr"/>
          <a:lstStyle/>
          <a:p>
            <a:pPr indent="0" marL="0">
              <a:buNone/>
            </a:pPr>
            <a:r>
              <a:rPr lang="en-US" sz="1500" b="1" dirty="0">
                <a:solidFill>
                  <a:srgbClr val="CADCFC"/>
                </a:solidFill>
                <a:latin typeface="Calibri" pitchFamily="34" charset="0"/>
                <a:ea typeface="Calibri" pitchFamily="34" charset="-122"/>
                <a:cs typeface="Calibri" pitchFamily="34" charset="-120"/>
              </a:rPr>
              <a:t>Reproduce it</a:t>
            </a:r>
            <a:endParaRPr lang="en-US" sz="1500" dirty="0"/>
          </a:p>
        </p:txBody>
      </p:sp>
      <p:sp>
        <p:nvSpPr>
          <p:cNvPr id="6" name="Text 4"/>
          <p:cNvSpPr txBox="1"/>
          <p:nvPr/>
        </p:nvSpPr>
        <p:spPr>
          <a:xfrm>
            <a:off x="4754880" y="1600200"/>
            <a:ext cx="3931920" cy="2743200"/>
          </a:xfrm>
          <a:prstGeom prst="rect">
            <a:avLst/>
          </a:prstGeom>
          <a:noFill/>
          <a:ln/>
        </p:spPr>
        <p:txBody>
          <a:bodyPr wrap="square" lIns="0" tIns="0" rIns="0" bIns="0" rtlCol="0" anchor="t"/>
          <a:lstStyle/>
          <a:p>
            <a:pPr indent="0" marL="0">
              <a:buNone/>
            </a:pPr>
            <a:r>
              <a:rPr lang="en-US" sz="950" dirty="0">
                <a:solidFill>
                  <a:srgbClr val="FFFFFF"/>
                </a:solidFill>
                <a:latin typeface="Courier New" pitchFamily="34" charset="0"/>
                <a:ea typeface="Courier New" pitchFamily="34" charset="-122"/>
                <a:cs typeface="Courier New" pitchFamily="34" charset="-120"/>
              </a:rPr>
              <a:t>github.com/elliott-dp/parallel-programming-project  (b95b92c, tag v1.0)</a:t>
            </a:r>
            <a:endParaRPr lang="en-US" sz="950" dirty="0"/>
          </a:p>
          <a:p>
            <a:pPr indent="0" marL="0">
              <a:buNone/>
            </a:pPr>
            <a:r>
              <a:rPr lang="en-US" sz="950" dirty="0">
                <a:solidFill>
                  <a:srgbClr val="FFFFFF"/>
                </a:solidFill>
                <a:latin typeface="Courier New" pitchFamily="34" charset="0"/>
                <a:ea typeface="Courier New" pitchFamily="34" charset="-122"/>
                <a:cs typeface="Courier New" pitchFamily="34" charset="-120"/>
              </a:rPr>
              <a:t>make &amp;&amp; ./tests/run_tests.sh   # 43/43</a:t>
            </a:r>
            <a:endParaRPr lang="en-US" sz="950" dirty="0"/>
          </a:p>
          <a:p>
            <a:pPr indent="0" marL="0">
              <a:buNone/>
            </a:pPr>
            <a:r>
              <a:rPr lang="en-US" sz="950" dirty="0">
                <a:solidFill>
                  <a:srgbClr val="FFFFFF"/>
                </a:solidFill>
                <a:latin typeface="Courier New" pitchFamily="34" charset="0"/>
                <a:ea typeface="Courier New" pitchFamily="34" charset="-122"/>
                <a:cs typeface="Courier New" pitchFamily="34" charset="-120"/>
              </a:rPr>
              <a:t>./scripts/run_local.sh         # single-node runs</a:t>
            </a:r>
            <a:endParaRPr lang="en-US" sz="950" dirty="0"/>
          </a:p>
          <a:p>
            <a:pPr indent="0" marL="0">
              <a:buNone/>
            </a:pPr>
            <a:r>
              <a:rPr lang="en-US" sz="950" dirty="0">
                <a:solidFill>
                  <a:srgbClr val="FFFFFF"/>
                </a:solidFill>
                <a:latin typeface="Courier New" pitchFamily="34" charset="0"/>
                <a:ea typeface="Courier New" pitchFamily="34" charset="-122"/>
                <a:cs typeface="Courier New" pitchFamily="34" charset="-120"/>
              </a:rPr>
              <a:t>scripts/plot_results.py &lt;csv&gt; --kind &lt;k&gt;</a:t>
            </a:r>
            <a:endParaRPr lang="en-US" sz="950" dirty="0"/>
          </a:p>
          <a:p>
            <a:pPr indent="0" marL="0">
              <a:buNone/>
            </a:pPr>
            <a:r>
              <a:rPr lang="en-US" sz="950" dirty="0">
                <a:solidFill>
                  <a:srgbClr val="FFFFFF"/>
                </a:solidFill>
                <a:latin typeface="Courier New" pitchFamily="34" charset="0"/>
                <a:ea typeface="Courier New" pitchFamily="34" charset="-122"/>
                <a:cs typeface="Courier New" pitchFamily="34" charset="-120"/>
              </a:rPr>
              <a:t>make roofline BLAS=1           # measure roofs</a:t>
            </a:r>
            <a:endParaRPr lang="en-US" sz="950" dirty="0"/>
          </a:p>
          <a:p>
            <a:pPr indent="0" marL="0">
              <a:buNone/>
            </a:pPr>
            <a:r>
              <a:rPr lang="en-US" sz="950" dirty="0">
                <a:solidFill>
                  <a:srgbClr val="FFFFFF"/>
                </a:solidFill>
                <a:latin typeface="Courier New" pitchFamily="34" charset="0"/>
                <a:ea typeface="Courier New" pitchFamily="34" charset="-122"/>
                <a:cs typeface="Courier New" pitchFamily="34" charset="-120"/>
              </a:rPr>
              <a:t>qsub jobs/smoke.pbs            # cluster build+verify</a:t>
            </a:r>
            <a:endParaRPr lang="en-US" sz="950" dirty="0"/>
          </a:p>
          <a:p>
            <a:pPr indent="0" marL="0">
              <a:buNone/>
            </a:pPr>
            <a:endParaRPr lang="en-US" sz="950" dirty="0"/>
          </a:p>
          <a:p>
            <a:pPr indent="0" marL="0">
              <a:buNone/>
            </a:pPr>
            <a:r>
              <a:rPr lang="en-US" sz="1100" dirty="0">
                <a:solidFill>
                  <a:srgbClr val="FFFFFF"/>
                </a:solidFill>
                <a:latin typeface="Calibri" pitchFamily="34" charset="0"/>
                <a:ea typeface="Calibri" pitchFamily="34" charset="-122"/>
                <a:cs typeface="Calibri" pitchFamily="34" charset="-120"/>
              </a:rPr>
              <a:t>Every figure regenerates from committed CSVs; bootstrap is seeded → byte-identical. docs/HPC.md, docs/EXPERIMENTS.md map each experiment to its figure.</a:t>
            </a:r>
            <a:endParaRPr lang="en-US" sz="950" dirty="0"/>
          </a:p>
        </p:txBody>
      </p:sp>
      <p:sp>
        <p:nvSpPr>
          <p:cNvPr id="7" name="Text 5"/>
          <p:cNvSpPr txBox="1"/>
          <p:nvPr/>
        </p:nvSpPr>
        <p:spPr>
          <a:xfrm>
            <a:off x="457200" y="4434840"/>
            <a:ext cx="822960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Thank you — questions?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Generic Distributed-Memory GEMM with a Cost-Model-Driven Decomposition Planner</dc:title>
  <dc:subject>PptxGenJS Presentation</dc:subject>
  <dc:creator>Saif Edine Safi</dc:creator>
  <cp:lastModifiedBy>Saif Edine Safi</cp:lastModifiedBy>
  <cp:revision>1</cp:revision>
  <dcterms:created xsi:type="dcterms:W3CDTF">2026-09-08T07:55:41Z</dcterms:created>
  <dcterms:modified xsi:type="dcterms:W3CDTF">2026-09-08T07:55:41Z</dcterms:modified>
</cp:coreProperties>
</file>